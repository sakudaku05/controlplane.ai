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2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Arial" charset="1" panose="020B0604020202020204"/>
      <p:regular r:id="rId15"/>
    </p:embeddedFont>
    <p:embeddedFont>
      <p:font typeface="Arial Bold" charset="1" panose="020B0704020202020204"/>
      <p:regular r:id="rId16"/>
    </p:embeddedFont>
    <p:embeddedFont>
      <p:font typeface="Poppins" charset="1" panose="00000500000000000000"/>
      <p:regular r:id="rId17"/>
    </p:embeddedFont>
    <p:embeddedFont>
      <p:font typeface="Poppins Semi-Bold" charset="1" panose="0000070000000000000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notesMasters/notesMaster1.xml" Type="http://schemas.openxmlformats.org/officeDocument/2006/relationships/notesMaster"/><Relationship Id="rId13" Target="theme/theme2.xml" Type="http://schemas.openxmlformats.org/officeDocument/2006/relationships/theme"/><Relationship Id="rId14" Target="notesSlides/notesSlide1.xml" Type="http://schemas.openxmlformats.org/officeDocument/2006/relationships/notes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Relationship Id="rId5" Target="../media/image3.jpeg" Type="http://schemas.openxmlformats.org/officeDocument/2006/relationships/image"/><Relationship Id="rId6" Target="../media/image4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.png" Type="http://schemas.openxmlformats.org/officeDocument/2006/relationships/image"/><Relationship Id="rId11" Target="../media/image13.png" Type="http://schemas.openxmlformats.org/officeDocument/2006/relationships/image"/><Relationship Id="rId12" Target="../media/image14.png" Type="http://schemas.openxmlformats.org/officeDocument/2006/relationships/image"/><Relationship Id="rId2" Target="../media/image1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7.png" Type="http://schemas.openxmlformats.org/officeDocument/2006/relationships/image"/><Relationship Id="rId6" Target="../media/image8.png" Type="http://schemas.openxmlformats.org/officeDocument/2006/relationships/image"/><Relationship Id="rId7" Target="../media/image9.png" Type="http://schemas.openxmlformats.org/officeDocument/2006/relationships/image"/><Relationship Id="rId8" Target="../media/image10.svg" Type="http://schemas.openxmlformats.org/officeDocument/2006/relationships/image"/><Relationship Id="rId9" Target="../media/image1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0.png" Type="http://schemas.openxmlformats.org/officeDocument/2006/relationships/image"/><Relationship Id="rId11" Target="../media/image21.svg" Type="http://schemas.openxmlformats.org/officeDocument/2006/relationships/image"/><Relationship Id="rId12" Target="../media/image9.png" Type="http://schemas.openxmlformats.org/officeDocument/2006/relationships/image"/><Relationship Id="rId13" Target="../media/image10.svg" Type="http://schemas.openxmlformats.org/officeDocument/2006/relationships/image"/><Relationship Id="rId14" Target="../media/image22.png" Type="http://schemas.openxmlformats.org/officeDocument/2006/relationships/image"/><Relationship Id="rId15" Target="../media/image23.svg" Type="http://schemas.openxmlformats.org/officeDocument/2006/relationships/image"/><Relationship Id="rId16" Target="../media/image24.png" Type="http://schemas.openxmlformats.org/officeDocument/2006/relationships/image"/><Relationship Id="rId17" Target="../media/image25.svg" Type="http://schemas.openxmlformats.org/officeDocument/2006/relationships/image"/><Relationship Id="rId18" Target="../media/image11.png" Type="http://schemas.openxmlformats.org/officeDocument/2006/relationships/image"/><Relationship Id="rId2" Target="../media/image8.pn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15.png" Type="http://schemas.openxmlformats.org/officeDocument/2006/relationships/image"/><Relationship Id="rId6" Target="../media/image16.png" Type="http://schemas.openxmlformats.org/officeDocument/2006/relationships/image"/><Relationship Id="rId7" Target="../media/image17.png" Type="http://schemas.openxmlformats.org/officeDocument/2006/relationships/image"/><Relationship Id="rId8" Target="../media/image18.png" Type="http://schemas.openxmlformats.org/officeDocument/2006/relationships/image"/><Relationship Id="rId9" Target="../media/image19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1.png" Type="http://schemas.openxmlformats.org/officeDocument/2006/relationships/image"/><Relationship Id="rId11" Target="../media/image32.svg" Type="http://schemas.openxmlformats.org/officeDocument/2006/relationships/image"/><Relationship Id="rId12" Target="../media/image5.png" Type="http://schemas.openxmlformats.org/officeDocument/2006/relationships/image"/><Relationship Id="rId13" Target="../media/image6.svg" Type="http://schemas.openxmlformats.org/officeDocument/2006/relationships/image"/><Relationship Id="rId14" Target="../media/image11.png" Type="http://schemas.openxmlformats.org/officeDocument/2006/relationships/image"/><Relationship Id="rId2" Target="../media/image8.png" Type="http://schemas.openxmlformats.org/officeDocument/2006/relationships/image"/><Relationship Id="rId3" Target="../media/image9.png" Type="http://schemas.openxmlformats.org/officeDocument/2006/relationships/image"/><Relationship Id="rId4" Target="../media/image10.svg" Type="http://schemas.openxmlformats.org/officeDocument/2006/relationships/image"/><Relationship Id="rId5" Target="../media/image26.png" Type="http://schemas.openxmlformats.org/officeDocument/2006/relationships/image"/><Relationship Id="rId6" Target="../media/image27.png" Type="http://schemas.openxmlformats.org/officeDocument/2006/relationships/image"/><Relationship Id="rId7" Target="../media/image28.svg" Type="http://schemas.openxmlformats.org/officeDocument/2006/relationships/image"/><Relationship Id="rId8" Target="../media/image29.png" Type="http://schemas.openxmlformats.org/officeDocument/2006/relationships/image"/><Relationship Id="rId9" Target="../media/image30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36.png" Type="http://schemas.openxmlformats.org/officeDocument/2006/relationships/image"/><Relationship Id="rId12" Target="../media/image37.svg" Type="http://schemas.openxmlformats.org/officeDocument/2006/relationships/image"/><Relationship Id="rId2" Target="../media/image8.png" Type="http://schemas.openxmlformats.org/officeDocument/2006/relationships/image"/><Relationship Id="rId3" Target="../media/image9.png" Type="http://schemas.openxmlformats.org/officeDocument/2006/relationships/image"/><Relationship Id="rId4" Target="../media/image10.sv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33.png" Type="http://schemas.openxmlformats.org/officeDocument/2006/relationships/image"/><Relationship Id="rId8" Target="../media/image34.png" Type="http://schemas.openxmlformats.org/officeDocument/2006/relationships/image"/><Relationship Id="rId9" Target="../media/image35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8.png" Type="http://schemas.openxmlformats.org/officeDocument/2006/relationships/image"/><Relationship Id="rId3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547865" y="9644777"/>
            <a:ext cx="3597135" cy="246831"/>
            <a:chOff x="0" y="0"/>
            <a:chExt cx="4796180" cy="32910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796184" cy="329101"/>
            </a:xfrm>
            <a:custGeom>
              <a:avLst/>
              <a:gdLst/>
              <a:ahLst/>
              <a:cxnLst/>
              <a:rect r="r" b="b" t="t" l="l"/>
              <a:pathLst>
                <a:path h="329101" w="4796184">
                  <a:moveTo>
                    <a:pt x="0" y="0"/>
                  </a:moveTo>
                  <a:lnTo>
                    <a:pt x="4796184" y="0"/>
                  </a:lnTo>
                  <a:lnTo>
                    <a:pt x="4796184" y="329101"/>
                  </a:lnTo>
                  <a:lnTo>
                    <a:pt x="0" y="32910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6557" r="0" b="-22137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4796180" cy="3481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39"/>
                </a:lnSpc>
              </a:pPr>
              <a:r>
                <a:rPr lang="en-US" sz="1200">
                  <a:solidFill>
                    <a:srgbClr val="808080"/>
                  </a:solidFill>
                  <a:latin typeface="Arial"/>
                  <a:ea typeface="Arial"/>
                  <a:cs typeface="Arial"/>
                  <a:sym typeface="Arial"/>
                </a:rPr>
                <a:t>Copyright © 2025 Accenture. All rights reserved.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7528943" y="9644777"/>
            <a:ext cx="187557" cy="246831"/>
            <a:chOff x="0" y="0"/>
            <a:chExt cx="250076" cy="32910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50070" cy="329101"/>
            </a:xfrm>
            <a:custGeom>
              <a:avLst/>
              <a:gdLst/>
              <a:ahLst/>
              <a:cxnLst/>
              <a:rect r="r" b="b" t="t" l="l"/>
              <a:pathLst>
                <a:path h="329101" w="250070">
                  <a:moveTo>
                    <a:pt x="0" y="0"/>
                  </a:moveTo>
                  <a:lnTo>
                    <a:pt x="250070" y="0"/>
                  </a:lnTo>
                  <a:lnTo>
                    <a:pt x="250070" y="329101"/>
                  </a:lnTo>
                  <a:lnTo>
                    <a:pt x="0" y="32910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6331" t="0" r="-76333" b="25181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50076" cy="3481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39"/>
                </a:lnSpc>
              </a:pPr>
              <a:r>
                <a:rPr lang="en-US" sz="1200">
                  <a:solidFill>
                    <a:srgbClr val="808080"/>
                  </a:solidFill>
                  <a:latin typeface="Arial"/>
                  <a:ea typeface="Arial"/>
                  <a:cs typeface="Arial"/>
                  <a:sym typeface="Arial"/>
                </a:rPr>
                <a:t>‹#›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29761" y="9586236"/>
            <a:ext cx="274806" cy="301752"/>
            <a:chOff x="0" y="0"/>
            <a:chExt cx="366408" cy="40233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66395" cy="402336"/>
            </a:xfrm>
            <a:custGeom>
              <a:avLst/>
              <a:gdLst/>
              <a:ahLst/>
              <a:cxnLst/>
              <a:rect r="r" b="b" t="t" l="l"/>
              <a:pathLst>
                <a:path h="402336" w="366395">
                  <a:moveTo>
                    <a:pt x="0" y="402336"/>
                  </a:moveTo>
                  <a:lnTo>
                    <a:pt x="366395" y="253619"/>
                  </a:lnTo>
                  <a:lnTo>
                    <a:pt x="366395" y="148717"/>
                  </a:lnTo>
                  <a:lnTo>
                    <a:pt x="0" y="0"/>
                  </a:lnTo>
                  <a:lnTo>
                    <a:pt x="0" y="105029"/>
                  </a:lnTo>
                  <a:lnTo>
                    <a:pt x="236855" y="201168"/>
                  </a:lnTo>
                  <a:lnTo>
                    <a:pt x="0" y="297307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A100FF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757924" y="836381"/>
            <a:ext cx="1865728" cy="492766"/>
            <a:chOff x="0" y="0"/>
            <a:chExt cx="2487638" cy="657022"/>
          </a:xfrm>
        </p:grpSpPr>
        <p:sp>
          <p:nvSpPr>
            <p:cNvPr name="Freeform 11" id="11" descr="accenture logo"/>
            <p:cNvSpPr/>
            <p:nvPr/>
          </p:nvSpPr>
          <p:spPr>
            <a:xfrm flipH="false" flipV="false" rot="0">
              <a:off x="0" y="0"/>
              <a:ext cx="2487676" cy="656971"/>
            </a:xfrm>
            <a:custGeom>
              <a:avLst/>
              <a:gdLst/>
              <a:ahLst/>
              <a:cxnLst/>
              <a:rect r="r" b="b" t="t" l="l"/>
              <a:pathLst>
                <a:path h="656971" w="2487676">
                  <a:moveTo>
                    <a:pt x="0" y="0"/>
                  </a:moveTo>
                  <a:lnTo>
                    <a:pt x="2487676" y="0"/>
                  </a:lnTo>
                  <a:lnTo>
                    <a:pt x="2487676" y="656971"/>
                  </a:lnTo>
                  <a:lnTo>
                    <a:pt x="0" y="6569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12" r="1" b="-119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9" y="1924"/>
            <a:ext cx="18287971" cy="10285076"/>
            <a:chOff x="0" y="0"/>
            <a:chExt cx="24383962" cy="1371343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4384000" cy="13713461"/>
            </a:xfrm>
            <a:custGeom>
              <a:avLst/>
              <a:gdLst/>
              <a:ahLst/>
              <a:cxnLst/>
              <a:rect r="r" b="b" t="t" l="l"/>
              <a:pathLst>
                <a:path h="13713461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3461"/>
                  </a:lnTo>
                  <a:lnTo>
                    <a:pt x="0" y="137134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210" b="-3129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5061682" y="8295751"/>
            <a:ext cx="8164637" cy="777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80"/>
              </a:lnSpc>
            </a:pPr>
            <a:r>
              <a:rPr lang="en-US" b="true" sz="6000" spc="-225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AI reinvention made real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5788114" y="8985714"/>
            <a:ext cx="6711772" cy="528971"/>
            <a:chOff x="0" y="0"/>
            <a:chExt cx="8949030" cy="70529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949055" cy="705231"/>
            </a:xfrm>
            <a:custGeom>
              <a:avLst/>
              <a:gdLst/>
              <a:ahLst/>
              <a:cxnLst/>
              <a:rect r="r" b="b" t="t" l="l"/>
              <a:pathLst>
                <a:path h="705231" w="8949055">
                  <a:moveTo>
                    <a:pt x="0" y="0"/>
                  </a:moveTo>
                  <a:lnTo>
                    <a:pt x="8949055" y="0"/>
                  </a:lnTo>
                  <a:lnTo>
                    <a:pt x="8949055" y="705231"/>
                  </a:lnTo>
                  <a:lnTo>
                    <a:pt x="0" y="705231"/>
                  </a:lnTo>
                  <a:close/>
                </a:path>
              </a:pathLst>
            </a:custGeom>
            <a:solidFill>
              <a:srgbClr val="A100FF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5879554" y="8985494"/>
            <a:ext cx="6528892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Accenture Innovation Challenge 2026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015336" y="1000592"/>
            <a:ext cx="1876844" cy="495700"/>
            <a:chOff x="0" y="0"/>
            <a:chExt cx="2502459" cy="660933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502408" cy="660908"/>
            </a:xfrm>
            <a:custGeom>
              <a:avLst/>
              <a:gdLst/>
              <a:ahLst/>
              <a:cxnLst/>
              <a:rect r="r" b="b" t="t" l="l"/>
              <a:pathLst>
                <a:path h="660908" w="2502408">
                  <a:moveTo>
                    <a:pt x="0" y="0"/>
                  </a:moveTo>
                  <a:lnTo>
                    <a:pt x="2502408" y="0"/>
                  </a:lnTo>
                  <a:lnTo>
                    <a:pt x="2502408" y="660908"/>
                  </a:lnTo>
                  <a:lnTo>
                    <a:pt x="0" y="6609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-2" b="-3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940935" y="3050787"/>
            <a:ext cx="4765510" cy="1637963"/>
            <a:chOff x="0" y="0"/>
            <a:chExt cx="6354013" cy="21839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354014" cy="2183948"/>
            </a:xfrm>
            <a:custGeom>
              <a:avLst/>
              <a:gdLst/>
              <a:ahLst/>
              <a:cxnLst/>
              <a:rect r="r" b="b" t="t" l="l"/>
              <a:pathLst>
                <a:path h="2183948" w="6354014">
                  <a:moveTo>
                    <a:pt x="0" y="0"/>
                  </a:moveTo>
                  <a:lnTo>
                    <a:pt x="6354014" y="0"/>
                  </a:lnTo>
                  <a:lnTo>
                    <a:pt x="6354014" y="2183948"/>
                  </a:lnTo>
                  <a:lnTo>
                    <a:pt x="0" y="21839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548" r="0" b="6167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85725"/>
              <a:ext cx="6354013" cy="2098225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4855"/>
                </a:lnSpc>
              </a:pPr>
              <a:r>
                <a:rPr lang="en-US" b="true" sz="4995">
                  <a:solidFill>
                    <a:srgbClr val="A100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Sahil Bhavesh Choudhary</a:t>
              </a:r>
            </a:p>
          </p:txBody>
        </p:sp>
      </p:grpSp>
      <p:sp>
        <p:nvSpPr>
          <p:cNvPr name="AutoShape 5" id="5"/>
          <p:cNvSpPr/>
          <p:nvPr/>
        </p:nvSpPr>
        <p:spPr>
          <a:xfrm>
            <a:off x="9144000" y="3200878"/>
            <a:ext cx="4744" cy="5871319"/>
          </a:xfrm>
          <a:prstGeom prst="line">
            <a:avLst/>
          </a:prstGeom>
          <a:ln cap="rnd" w="9525">
            <a:solidFill>
              <a:srgbClr val="46007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rot="12660">
            <a:off x="3930072" y="4510688"/>
            <a:ext cx="2586552" cy="0"/>
          </a:xfrm>
          <a:prstGeom prst="line">
            <a:avLst/>
          </a:prstGeom>
          <a:ln cap="rnd" w="9525">
            <a:solidFill>
              <a:srgbClr val="460073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" id="7"/>
          <p:cNvGrpSpPr/>
          <p:nvPr/>
        </p:nvGrpSpPr>
        <p:grpSpPr>
          <a:xfrm rot="0">
            <a:off x="4026284" y="6077003"/>
            <a:ext cx="4594812" cy="1722203"/>
            <a:chOff x="0" y="0"/>
            <a:chExt cx="6126416" cy="229627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126421" cy="2296268"/>
            </a:xfrm>
            <a:custGeom>
              <a:avLst/>
              <a:gdLst/>
              <a:ahLst/>
              <a:cxnLst/>
              <a:rect r="r" b="b" t="t" l="l"/>
              <a:pathLst>
                <a:path h="2296268" w="6126421">
                  <a:moveTo>
                    <a:pt x="0" y="0"/>
                  </a:moveTo>
                  <a:lnTo>
                    <a:pt x="6126421" y="0"/>
                  </a:lnTo>
                  <a:lnTo>
                    <a:pt x="6126421" y="2296268"/>
                  </a:lnTo>
                  <a:lnTo>
                    <a:pt x="0" y="22962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9904" t="0" r="41952" b="29349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28575"/>
              <a:ext cx="6126416" cy="2267695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b="true" sz="5000">
                  <a:solidFill>
                    <a:srgbClr val="A100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Saket Kumar Singh</a:t>
              </a:r>
            </a:p>
          </p:txBody>
        </p:sp>
      </p:grpSp>
      <p:sp>
        <p:nvSpPr>
          <p:cNvPr name="AutoShape 10" id="10"/>
          <p:cNvSpPr/>
          <p:nvPr/>
        </p:nvSpPr>
        <p:spPr>
          <a:xfrm rot="12660">
            <a:off x="4122344" y="7647975"/>
            <a:ext cx="2586552" cy="0"/>
          </a:xfrm>
          <a:prstGeom prst="line">
            <a:avLst/>
          </a:prstGeom>
          <a:ln cap="rnd" w="9525">
            <a:solidFill>
              <a:srgbClr val="460073"/>
            </a:solidFill>
            <a:prstDash val="solid"/>
            <a:headEnd type="none" len="sm" w="sm"/>
            <a:tailEnd type="none" len="sm" w="sm"/>
          </a:ln>
        </p:spPr>
      </p:sp>
      <p:graphicFrame>
        <p:nvGraphicFramePr>
          <p:cNvPr name="Table 11" id="11"/>
          <p:cNvGraphicFramePr>
            <a:graphicFrameLocks noGrp="true"/>
          </p:cNvGraphicFramePr>
          <p:nvPr/>
        </p:nvGraphicFramePr>
        <p:xfrm>
          <a:off x="803038" y="2171328"/>
          <a:ext cx="17411700" cy="625475"/>
        </p:xfrm>
        <a:graphic>
          <a:graphicData uri="http://schemas.openxmlformats.org/drawingml/2006/table">
            <a:tbl>
              <a:tblPr/>
              <a:tblGrid>
                <a:gridCol w="6572574"/>
                <a:gridCol w="10839126"/>
              </a:tblGrid>
              <a:tr h="62547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A100FF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TEAM NAME:  23je0841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E6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C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6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C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EC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6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6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</a:tr>
            </a:tbl>
          </a:graphicData>
        </a:graphic>
      </p:graphicFrame>
      <p:sp>
        <p:nvSpPr>
          <p:cNvPr name="AutoShape 12" id="12"/>
          <p:cNvSpPr/>
          <p:nvPr/>
        </p:nvSpPr>
        <p:spPr>
          <a:xfrm>
            <a:off x="803038" y="1019175"/>
            <a:ext cx="16681923" cy="0"/>
          </a:xfrm>
          <a:prstGeom prst="line">
            <a:avLst/>
          </a:prstGeom>
          <a:ln cap="flat" w="28575">
            <a:gradFill>
              <a:gsLst>
                <a:gs pos="0">
                  <a:srgbClr val="6521F1">
                    <a:alpha val="100000"/>
                  </a:srgbClr>
                </a:gs>
                <a:gs pos="50000">
                  <a:srgbClr val="C437CF">
                    <a:alpha val="100000"/>
                  </a:srgbClr>
                </a:gs>
                <a:gs pos="100000">
                  <a:srgbClr val="FA5F69">
                    <a:alpha val="100000"/>
                  </a:srgbClr>
                </a:gs>
              </a:gsLst>
              <a:lin ang="270000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Freeform 13" id="13"/>
          <p:cNvSpPr/>
          <p:nvPr/>
        </p:nvSpPr>
        <p:spPr>
          <a:xfrm flipH="false" flipV="false" rot="0">
            <a:off x="803038" y="506774"/>
            <a:ext cx="342324" cy="342324"/>
          </a:xfrm>
          <a:custGeom>
            <a:avLst/>
            <a:gdLst/>
            <a:ahLst/>
            <a:cxnLst/>
            <a:rect r="r" b="b" t="t" l="l"/>
            <a:pathLst>
              <a:path h="342324" w="342324">
                <a:moveTo>
                  <a:pt x="0" y="0"/>
                </a:moveTo>
                <a:lnTo>
                  <a:pt x="342324" y="0"/>
                </a:lnTo>
                <a:lnTo>
                  <a:pt x="342324" y="342324"/>
                </a:lnTo>
                <a:lnTo>
                  <a:pt x="0" y="3423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4" id="14"/>
          <p:cNvSpPr txBox="true"/>
          <p:nvPr/>
        </p:nvSpPr>
        <p:spPr>
          <a:xfrm rot="0">
            <a:off x="17350740" y="9805187"/>
            <a:ext cx="395688" cy="20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000000">
                    <a:alpha val="4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0328724" y="3410649"/>
            <a:ext cx="7022016" cy="2634898"/>
            <a:chOff x="0" y="0"/>
            <a:chExt cx="9362687" cy="3513197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260960" y="570556"/>
              <a:ext cx="2887320" cy="2942641"/>
              <a:chOff x="0" y="0"/>
              <a:chExt cx="2887320" cy="2942641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2887345" cy="2942590"/>
              </a:xfrm>
              <a:custGeom>
                <a:avLst/>
                <a:gdLst/>
                <a:ahLst/>
                <a:cxnLst/>
                <a:rect r="r" b="b" t="t" l="l"/>
                <a:pathLst>
                  <a:path h="2942590" w="2887345">
                    <a:moveTo>
                      <a:pt x="0" y="0"/>
                    </a:moveTo>
                    <a:lnTo>
                      <a:pt x="2887345" y="0"/>
                    </a:lnTo>
                    <a:lnTo>
                      <a:pt x="2887345" y="2942590"/>
                    </a:lnTo>
                    <a:lnTo>
                      <a:pt x="0" y="2942590"/>
                    </a:lnTo>
                    <a:close/>
                  </a:path>
                </a:pathLst>
              </a:custGeom>
              <a:solidFill>
                <a:srgbClr val="A100FF"/>
              </a:solidFill>
            </p:spPr>
          </p:sp>
        </p:grpSp>
        <p:grpSp>
          <p:nvGrpSpPr>
            <p:cNvPr name="Group 18" id="18"/>
            <p:cNvGrpSpPr/>
            <p:nvPr/>
          </p:nvGrpSpPr>
          <p:grpSpPr>
            <a:xfrm rot="0">
              <a:off x="0" y="266848"/>
              <a:ext cx="2868435" cy="2942641"/>
              <a:chOff x="0" y="0"/>
              <a:chExt cx="2868435" cy="2942641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2868422" cy="2942590"/>
              </a:xfrm>
              <a:custGeom>
                <a:avLst/>
                <a:gdLst/>
                <a:ahLst/>
                <a:cxnLst/>
                <a:rect r="r" b="b" t="t" l="l"/>
                <a:pathLst>
                  <a:path h="2942590" w="2868422">
                    <a:moveTo>
                      <a:pt x="0" y="0"/>
                    </a:moveTo>
                    <a:lnTo>
                      <a:pt x="2868422" y="0"/>
                    </a:lnTo>
                    <a:lnTo>
                      <a:pt x="2868422" y="2942590"/>
                    </a:lnTo>
                    <a:lnTo>
                      <a:pt x="0" y="294259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5"/>
                <a:stretch>
                  <a:fillRect l="0" t="-12665" r="0" b="-12665"/>
                </a:stretch>
              </a:blipFill>
            </p:spPr>
          </p:sp>
        </p:grpSp>
        <p:grpSp>
          <p:nvGrpSpPr>
            <p:cNvPr name="Group 20" id="20"/>
            <p:cNvGrpSpPr/>
            <p:nvPr/>
          </p:nvGrpSpPr>
          <p:grpSpPr>
            <a:xfrm rot="0">
              <a:off x="3648786" y="0"/>
              <a:ext cx="5318087" cy="1622322"/>
              <a:chOff x="0" y="0"/>
              <a:chExt cx="5318087" cy="1622322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5318086" cy="1622321"/>
              </a:xfrm>
              <a:custGeom>
                <a:avLst/>
                <a:gdLst/>
                <a:ahLst/>
                <a:cxnLst/>
                <a:rect r="r" b="b" t="t" l="l"/>
                <a:pathLst>
                  <a:path h="1622321" w="5318086">
                    <a:moveTo>
                      <a:pt x="0" y="0"/>
                    </a:moveTo>
                    <a:lnTo>
                      <a:pt x="5318086" y="0"/>
                    </a:lnTo>
                    <a:lnTo>
                      <a:pt x="5318086" y="1622321"/>
                    </a:lnTo>
                    <a:lnTo>
                      <a:pt x="0" y="1622321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-12113" t="0" r="33833" b="0"/>
                </a:stretch>
              </a:blipFill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28575"/>
                <a:ext cx="5318087" cy="1593747"/>
              </a:xfrm>
              <a:prstGeom prst="rect">
                <a:avLst/>
              </a:prstGeom>
            </p:spPr>
            <p:txBody>
              <a:bodyPr anchor="b" rtlCol="false" tIns="0" lIns="0" bIns="0" rIns="0"/>
              <a:lstStyle/>
              <a:p>
                <a:pPr algn="l">
                  <a:lnSpc>
                    <a:spcPts val="5400"/>
                  </a:lnSpc>
                </a:pPr>
                <a:r>
                  <a:rPr lang="en-US" b="true" sz="5000">
                    <a:solidFill>
                      <a:srgbClr val="A100FF"/>
                    </a:solidFill>
                    <a:latin typeface="Arial Bold"/>
                    <a:ea typeface="Arial Bold"/>
                    <a:cs typeface="Arial Bold"/>
                    <a:sym typeface="Arial Bold"/>
                  </a:rPr>
                  <a:t>Mayank Raj</a:t>
                </a:r>
              </a:p>
            </p:txBody>
          </p:sp>
        </p:grpSp>
        <p:sp>
          <p:nvSpPr>
            <p:cNvPr name="AutoShape 23" id="23"/>
            <p:cNvSpPr/>
            <p:nvPr/>
          </p:nvSpPr>
          <p:spPr>
            <a:xfrm>
              <a:off x="3728135" y="1469550"/>
              <a:ext cx="3448712" cy="12700"/>
            </a:xfrm>
            <a:prstGeom prst="line">
              <a:avLst/>
            </a:prstGeom>
            <a:ln cap="rnd" w="12700">
              <a:solidFill>
                <a:srgbClr val="460073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24" id="24"/>
            <p:cNvSpPr txBox="true"/>
            <p:nvPr/>
          </p:nvSpPr>
          <p:spPr>
            <a:xfrm rot="0">
              <a:off x="3799332" y="1780078"/>
              <a:ext cx="5563355" cy="14414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College: IIT (ISM) Dhanbad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Stream: B.Tech - Petroleum Engineering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Year of graduation: 2027</a:t>
              </a:r>
            </a:p>
            <a:p>
              <a:pPr algn="l">
                <a:lnSpc>
                  <a:spcPts val="2160"/>
                </a:lnSpc>
              </a:pP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11853746" y="5058618"/>
            <a:ext cx="8529366" cy="8615521"/>
          </a:xfrm>
          <a:custGeom>
            <a:avLst/>
            <a:gdLst/>
            <a:ahLst/>
            <a:cxnLst/>
            <a:rect r="r" b="b" t="t" l="l"/>
            <a:pathLst>
              <a:path h="8615521" w="8529366">
                <a:moveTo>
                  <a:pt x="0" y="0"/>
                </a:moveTo>
                <a:lnTo>
                  <a:pt x="8529366" y="0"/>
                </a:lnTo>
                <a:lnTo>
                  <a:pt x="8529366" y="8615521"/>
                </a:lnTo>
                <a:lnTo>
                  <a:pt x="0" y="861552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24000"/>
            </a:blip>
            <a:stretch>
              <a:fillRect l="0" t="0" r="0" b="0"/>
            </a:stretch>
          </a:blipFill>
        </p:spPr>
      </p:sp>
      <p:sp>
        <p:nvSpPr>
          <p:cNvPr name="AutoShape 26" id="26"/>
          <p:cNvSpPr/>
          <p:nvPr/>
        </p:nvSpPr>
        <p:spPr>
          <a:xfrm>
            <a:off x="803038" y="9747394"/>
            <a:ext cx="16681923" cy="0"/>
          </a:xfrm>
          <a:prstGeom prst="line">
            <a:avLst/>
          </a:prstGeom>
          <a:ln cap="flat" w="28575">
            <a:gradFill>
              <a:gsLst>
                <a:gs pos="0">
                  <a:srgbClr val="6521F1">
                    <a:alpha val="100000"/>
                  </a:srgbClr>
                </a:gs>
                <a:gs pos="50000">
                  <a:srgbClr val="C437CF">
                    <a:alpha val="100000"/>
                  </a:srgbClr>
                </a:gs>
                <a:gs pos="100000">
                  <a:srgbClr val="FA5F69">
                    <a:alpha val="100000"/>
                  </a:srgbClr>
                </a:gs>
              </a:gsLst>
              <a:lin ang="270000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Freeform 27" id="27"/>
          <p:cNvSpPr/>
          <p:nvPr/>
        </p:nvSpPr>
        <p:spPr>
          <a:xfrm flipH="false" flipV="false" rot="-5400000">
            <a:off x="16951514" y="9569305"/>
            <a:ext cx="186550" cy="933252"/>
          </a:xfrm>
          <a:custGeom>
            <a:avLst/>
            <a:gdLst/>
            <a:ahLst/>
            <a:cxnLst/>
            <a:rect r="r" b="b" t="t" l="l"/>
            <a:pathLst>
              <a:path h="933252" w="186550">
                <a:moveTo>
                  <a:pt x="0" y="0"/>
                </a:moveTo>
                <a:lnTo>
                  <a:pt x="186550" y="0"/>
                </a:lnTo>
                <a:lnTo>
                  <a:pt x="186550" y="933252"/>
                </a:lnTo>
                <a:lnTo>
                  <a:pt x="0" y="93325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-146966" b="-27809"/>
            </a:stretch>
          </a:blipFill>
        </p:spPr>
      </p:sp>
      <p:grpSp>
        <p:nvGrpSpPr>
          <p:cNvPr name="Group 28" id="28"/>
          <p:cNvGrpSpPr/>
          <p:nvPr/>
        </p:nvGrpSpPr>
        <p:grpSpPr>
          <a:xfrm rot="0">
            <a:off x="17115282" y="545603"/>
            <a:ext cx="288036" cy="303495"/>
            <a:chOff x="0" y="0"/>
            <a:chExt cx="384048" cy="404660"/>
          </a:xfrm>
        </p:grpSpPr>
        <p:sp>
          <p:nvSpPr>
            <p:cNvPr name="Freeform 29" id="29" descr="A picture containing drawing, clock  Description automatically generated"/>
            <p:cNvSpPr/>
            <p:nvPr/>
          </p:nvSpPr>
          <p:spPr>
            <a:xfrm flipH="false" flipV="false" rot="0">
              <a:off x="0" y="0"/>
              <a:ext cx="384048" cy="404622"/>
            </a:xfrm>
            <a:custGeom>
              <a:avLst/>
              <a:gdLst/>
              <a:ahLst/>
              <a:cxnLst/>
              <a:rect r="r" b="b" t="t" l="l"/>
              <a:pathLst>
                <a:path h="404622" w="384048">
                  <a:moveTo>
                    <a:pt x="0" y="0"/>
                  </a:moveTo>
                  <a:lnTo>
                    <a:pt x="384048" y="0"/>
                  </a:lnTo>
                  <a:lnTo>
                    <a:pt x="384048" y="404622"/>
                  </a:lnTo>
                  <a:lnTo>
                    <a:pt x="0" y="4046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-175" t="0" r="-171" b="-9"/>
              </a:stretch>
            </a:blip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803038" y="1320936"/>
            <a:ext cx="17145000" cy="7265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84"/>
              </a:lnSpc>
            </a:pPr>
            <a:r>
              <a:rPr lang="en-US" sz="5400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Team details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4026284" y="4738821"/>
            <a:ext cx="4412884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College: IIT (ISM) Dhanbad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Stream: B.Tech - Petroleum Engineering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Year of graduation: 2027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4047868" y="7880737"/>
            <a:ext cx="4151296" cy="1085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College: IIT (ISM) Dhanbad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Stream: B.Tech - Petroleum Engineering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Year of graduation: 2027</a:t>
            </a:r>
          </a:p>
          <a:p>
            <a:pPr algn="l">
              <a:lnSpc>
                <a:spcPts val="2160"/>
              </a:lnSpc>
            </a:pPr>
          </a:p>
        </p:txBody>
      </p:sp>
      <p:sp>
        <p:nvSpPr>
          <p:cNvPr name="TextBox 33" id="33"/>
          <p:cNvSpPr txBox="true"/>
          <p:nvPr/>
        </p:nvSpPr>
        <p:spPr>
          <a:xfrm rot="0">
            <a:off x="1300910" y="487753"/>
            <a:ext cx="2216190" cy="332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 b="true">
                <a:solidFill>
                  <a:srgbClr val="000037"/>
                </a:solidFill>
                <a:latin typeface="Arial Bold"/>
                <a:ea typeface="Arial Bold"/>
                <a:cs typeface="Arial Bold"/>
                <a:sym typeface="Arial Bold"/>
              </a:rPr>
              <a:t>ControlPlane.ai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1028700" y="3524975"/>
            <a:ext cx="2415864" cy="2441875"/>
            <a:chOff x="0" y="0"/>
            <a:chExt cx="3221152" cy="3255834"/>
          </a:xfrm>
        </p:grpSpPr>
        <p:grpSp>
          <p:nvGrpSpPr>
            <p:cNvPr name="Group 35" id="35"/>
            <p:cNvGrpSpPr/>
            <p:nvPr/>
          </p:nvGrpSpPr>
          <p:grpSpPr>
            <a:xfrm rot="0">
              <a:off x="333832" y="313193"/>
              <a:ext cx="2887320" cy="2942641"/>
              <a:chOff x="0" y="0"/>
              <a:chExt cx="2887320" cy="2942641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2887345" cy="2942590"/>
              </a:xfrm>
              <a:custGeom>
                <a:avLst/>
                <a:gdLst/>
                <a:ahLst/>
                <a:cxnLst/>
                <a:rect r="r" b="b" t="t" l="l"/>
                <a:pathLst>
                  <a:path h="2942590" w="2887345">
                    <a:moveTo>
                      <a:pt x="0" y="0"/>
                    </a:moveTo>
                    <a:lnTo>
                      <a:pt x="2887345" y="0"/>
                    </a:lnTo>
                    <a:lnTo>
                      <a:pt x="2887345" y="2942590"/>
                    </a:lnTo>
                    <a:lnTo>
                      <a:pt x="0" y="2942590"/>
                    </a:lnTo>
                    <a:close/>
                  </a:path>
                </a:pathLst>
              </a:custGeom>
              <a:solidFill>
                <a:srgbClr val="A100FF"/>
              </a:solidFill>
            </p:spPr>
          </p:sp>
        </p:grpSp>
        <p:sp>
          <p:nvSpPr>
            <p:cNvPr name="Freeform 37" id="37"/>
            <p:cNvSpPr/>
            <p:nvPr/>
          </p:nvSpPr>
          <p:spPr>
            <a:xfrm flipH="false" flipV="false" rot="0">
              <a:off x="32589" y="0"/>
              <a:ext cx="2831038" cy="2831038"/>
            </a:xfrm>
            <a:custGeom>
              <a:avLst/>
              <a:gdLst/>
              <a:ahLst/>
              <a:cxnLst/>
              <a:rect r="r" b="b" t="t" l="l"/>
              <a:pathLst>
                <a:path h="2831038" w="2831038">
                  <a:moveTo>
                    <a:pt x="0" y="0"/>
                  </a:moveTo>
                  <a:lnTo>
                    <a:pt x="2831038" y="0"/>
                  </a:lnTo>
                  <a:lnTo>
                    <a:pt x="2831038" y="2831038"/>
                  </a:lnTo>
                  <a:lnTo>
                    <a:pt x="0" y="28310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  <p:grpSp>
          <p:nvGrpSpPr>
            <p:cNvPr name="Group 38" id="38"/>
            <p:cNvGrpSpPr/>
            <p:nvPr/>
          </p:nvGrpSpPr>
          <p:grpSpPr>
            <a:xfrm rot="0">
              <a:off x="0" y="0"/>
              <a:ext cx="2868435" cy="2942641"/>
              <a:chOff x="0" y="0"/>
              <a:chExt cx="2868435" cy="2942641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0" y="0"/>
                <a:ext cx="2868422" cy="2942590"/>
              </a:xfrm>
              <a:custGeom>
                <a:avLst/>
                <a:gdLst/>
                <a:ahLst/>
                <a:cxnLst/>
                <a:rect r="r" b="b" t="t" l="l"/>
                <a:pathLst>
                  <a:path h="2942590" w="2868422">
                    <a:moveTo>
                      <a:pt x="0" y="0"/>
                    </a:moveTo>
                    <a:lnTo>
                      <a:pt x="2868422" y="0"/>
                    </a:lnTo>
                    <a:lnTo>
                      <a:pt x="2868422" y="2942590"/>
                    </a:lnTo>
                    <a:lnTo>
                      <a:pt x="0" y="294259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1"/>
                <a:stretch>
                  <a:fillRect l="0" t="0" r="0" b="-25559"/>
                </a:stretch>
              </a:blipFill>
            </p:spPr>
          </p:sp>
        </p:grpSp>
      </p:grpSp>
      <p:grpSp>
        <p:nvGrpSpPr>
          <p:cNvPr name="Group 40" id="40"/>
          <p:cNvGrpSpPr/>
          <p:nvPr/>
        </p:nvGrpSpPr>
        <p:grpSpPr>
          <a:xfrm rot="0">
            <a:off x="1346444" y="6690751"/>
            <a:ext cx="2165490" cy="2206981"/>
            <a:chOff x="0" y="0"/>
            <a:chExt cx="2887320" cy="2942641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887345" cy="2942590"/>
            </a:xfrm>
            <a:custGeom>
              <a:avLst/>
              <a:gdLst/>
              <a:ahLst/>
              <a:cxnLst/>
              <a:rect r="r" b="b" t="t" l="l"/>
              <a:pathLst>
                <a:path h="2942590" w="2887345">
                  <a:moveTo>
                    <a:pt x="0" y="0"/>
                  </a:moveTo>
                  <a:lnTo>
                    <a:pt x="2887345" y="0"/>
                  </a:lnTo>
                  <a:lnTo>
                    <a:pt x="2887345" y="2942590"/>
                  </a:lnTo>
                  <a:lnTo>
                    <a:pt x="0" y="2942590"/>
                  </a:lnTo>
                  <a:close/>
                </a:path>
              </a:pathLst>
            </a:custGeom>
            <a:solidFill>
              <a:srgbClr val="A100FF"/>
            </a:solidFill>
          </p:spPr>
        </p:sp>
      </p:grpSp>
      <p:sp>
        <p:nvSpPr>
          <p:cNvPr name="Freeform 42" id="42"/>
          <p:cNvSpPr/>
          <p:nvPr/>
        </p:nvSpPr>
        <p:spPr>
          <a:xfrm flipH="false" flipV="false" rot="0">
            <a:off x="1120512" y="6524712"/>
            <a:ext cx="2123278" cy="2123278"/>
          </a:xfrm>
          <a:custGeom>
            <a:avLst/>
            <a:gdLst/>
            <a:ahLst/>
            <a:cxnLst/>
            <a:rect r="r" b="b" t="t" l="l"/>
            <a:pathLst>
              <a:path h="2123278" w="2123278">
                <a:moveTo>
                  <a:pt x="0" y="0"/>
                </a:moveTo>
                <a:lnTo>
                  <a:pt x="2123279" y="0"/>
                </a:lnTo>
                <a:lnTo>
                  <a:pt x="2123279" y="2123278"/>
                </a:lnTo>
                <a:lnTo>
                  <a:pt x="0" y="212327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grpSp>
        <p:nvGrpSpPr>
          <p:cNvPr name="Group 43" id="43"/>
          <p:cNvGrpSpPr/>
          <p:nvPr/>
        </p:nvGrpSpPr>
        <p:grpSpPr>
          <a:xfrm rot="0">
            <a:off x="1120512" y="6275132"/>
            <a:ext cx="2123278" cy="2372858"/>
            <a:chOff x="0" y="0"/>
            <a:chExt cx="2633130" cy="2942641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633119" cy="2942590"/>
            </a:xfrm>
            <a:custGeom>
              <a:avLst/>
              <a:gdLst/>
              <a:ahLst/>
              <a:cxnLst/>
              <a:rect r="r" b="b" t="t" l="l"/>
              <a:pathLst>
                <a:path h="2942590" w="2633119">
                  <a:moveTo>
                    <a:pt x="0" y="0"/>
                  </a:moveTo>
                  <a:lnTo>
                    <a:pt x="2633119" y="0"/>
                  </a:lnTo>
                  <a:lnTo>
                    <a:pt x="2633119" y="2942590"/>
                  </a:lnTo>
                  <a:lnTo>
                    <a:pt x="0" y="29425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-9692" r="0" b="-9692"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803038" y="1019175"/>
            <a:ext cx="16681923" cy="0"/>
          </a:xfrm>
          <a:prstGeom prst="line">
            <a:avLst/>
          </a:prstGeom>
          <a:ln cap="flat" w="28575">
            <a:gradFill>
              <a:gsLst>
                <a:gs pos="0">
                  <a:srgbClr val="6521F1">
                    <a:alpha val="100000"/>
                  </a:srgbClr>
                </a:gs>
                <a:gs pos="50000">
                  <a:srgbClr val="C437CF">
                    <a:alpha val="100000"/>
                  </a:srgbClr>
                </a:gs>
                <a:gs pos="100000">
                  <a:srgbClr val="FA5F69">
                    <a:alpha val="100000"/>
                  </a:srgbClr>
                </a:gs>
              </a:gsLst>
              <a:lin ang="270000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1853746" y="5058618"/>
            <a:ext cx="8529366" cy="8615521"/>
          </a:xfrm>
          <a:custGeom>
            <a:avLst/>
            <a:gdLst/>
            <a:ahLst/>
            <a:cxnLst/>
            <a:rect r="r" b="b" t="t" l="l"/>
            <a:pathLst>
              <a:path h="8615521" w="8529366">
                <a:moveTo>
                  <a:pt x="0" y="0"/>
                </a:moveTo>
                <a:lnTo>
                  <a:pt x="8529366" y="0"/>
                </a:lnTo>
                <a:lnTo>
                  <a:pt x="8529366" y="8615521"/>
                </a:lnTo>
                <a:lnTo>
                  <a:pt x="0" y="86155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4000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03038" y="506774"/>
            <a:ext cx="342324" cy="342324"/>
          </a:xfrm>
          <a:custGeom>
            <a:avLst/>
            <a:gdLst/>
            <a:ahLst/>
            <a:cxnLst/>
            <a:rect r="r" b="b" t="t" l="l"/>
            <a:pathLst>
              <a:path h="342324" w="342324">
                <a:moveTo>
                  <a:pt x="0" y="0"/>
                </a:moveTo>
                <a:lnTo>
                  <a:pt x="342324" y="0"/>
                </a:lnTo>
                <a:lnTo>
                  <a:pt x="342324" y="342324"/>
                </a:lnTo>
                <a:lnTo>
                  <a:pt x="0" y="3423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5" id="5"/>
          <p:cNvGrpSpPr/>
          <p:nvPr/>
        </p:nvGrpSpPr>
        <p:grpSpPr>
          <a:xfrm rot="0">
            <a:off x="8889345" y="1559027"/>
            <a:ext cx="8595617" cy="7168946"/>
            <a:chOff x="0" y="0"/>
            <a:chExt cx="2263866" cy="188811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63866" cy="1888118"/>
            </a:xfrm>
            <a:custGeom>
              <a:avLst/>
              <a:gdLst/>
              <a:ahLst/>
              <a:cxnLst/>
              <a:rect r="r" b="b" t="t" l="l"/>
              <a:pathLst>
                <a:path h="1888118" w="2263866">
                  <a:moveTo>
                    <a:pt x="24318" y="0"/>
                  </a:moveTo>
                  <a:lnTo>
                    <a:pt x="2239548" y="0"/>
                  </a:lnTo>
                  <a:cubicBezTo>
                    <a:pt x="2252978" y="0"/>
                    <a:pt x="2263866" y="10888"/>
                    <a:pt x="2263866" y="24318"/>
                  </a:cubicBezTo>
                  <a:lnTo>
                    <a:pt x="2263866" y="1863799"/>
                  </a:lnTo>
                  <a:cubicBezTo>
                    <a:pt x="2263866" y="1870249"/>
                    <a:pt x="2261304" y="1876434"/>
                    <a:pt x="2256743" y="1880995"/>
                  </a:cubicBezTo>
                  <a:cubicBezTo>
                    <a:pt x="2252183" y="1885555"/>
                    <a:pt x="2245997" y="1888118"/>
                    <a:pt x="2239548" y="1888118"/>
                  </a:cubicBezTo>
                  <a:lnTo>
                    <a:pt x="24318" y="1888118"/>
                  </a:lnTo>
                  <a:cubicBezTo>
                    <a:pt x="10888" y="1888118"/>
                    <a:pt x="0" y="1877230"/>
                    <a:pt x="0" y="1863799"/>
                  </a:cubicBezTo>
                  <a:lnTo>
                    <a:pt x="0" y="24318"/>
                  </a:lnTo>
                  <a:cubicBezTo>
                    <a:pt x="0" y="10888"/>
                    <a:pt x="10888" y="0"/>
                    <a:pt x="2431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4F3FC">
                    <a:alpha val="100000"/>
                  </a:srgbClr>
                </a:gs>
                <a:gs pos="100000">
                  <a:srgbClr val="F9EFF8">
                    <a:alpha val="100000"/>
                  </a:srgbClr>
                </a:gs>
              </a:gsLst>
              <a:lin ang="2700000"/>
            </a:gradFill>
            <a:ln cap="rnd">
              <a:noFill/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2263866" cy="19357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365974" y="7574356"/>
            <a:ext cx="7642359" cy="766500"/>
            <a:chOff x="0" y="0"/>
            <a:chExt cx="2012802" cy="20187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12802" cy="201877"/>
            </a:xfrm>
            <a:custGeom>
              <a:avLst/>
              <a:gdLst/>
              <a:ahLst/>
              <a:cxnLst/>
              <a:rect r="r" b="b" t="t" l="l"/>
              <a:pathLst>
                <a:path h="201877" w="2012802">
                  <a:moveTo>
                    <a:pt x="27352" y="0"/>
                  </a:moveTo>
                  <a:lnTo>
                    <a:pt x="1985451" y="0"/>
                  </a:lnTo>
                  <a:cubicBezTo>
                    <a:pt x="2000557" y="0"/>
                    <a:pt x="2012802" y="12246"/>
                    <a:pt x="2012802" y="27352"/>
                  </a:cubicBezTo>
                  <a:lnTo>
                    <a:pt x="2012802" y="174525"/>
                  </a:lnTo>
                  <a:cubicBezTo>
                    <a:pt x="2012802" y="189631"/>
                    <a:pt x="2000557" y="201877"/>
                    <a:pt x="1985451" y="201877"/>
                  </a:cubicBezTo>
                  <a:lnTo>
                    <a:pt x="27352" y="201877"/>
                  </a:lnTo>
                  <a:cubicBezTo>
                    <a:pt x="12246" y="201877"/>
                    <a:pt x="0" y="189631"/>
                    <a:pt x="0" y="174525"/>
                  </a:cubicBezTo>
                  <a:lnTo>
                    <a:pt x="0" y="27352"/>
                  </a:lnTo>
                  <a:cubicBezTo>
                    <a:pt x="0" y="12246"/>
                    <a:pt x="12246" y="0"/>
                    <a:pt x="2735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3B6DEF">
                    <a:alpha val="100000"/>
                  </a:srgbClr>
                </a:gs>
                <a:gs pos="50000">
                  <a:srgbClr val="E96BCF">
                    <a:alpha val="100000"/>
                  </a:srgbClr>
                </a:gs>
                <a:gs pos="100000">
                  <a:srgbClr val="F660A5">
                    <a:alpha val="100000"/>
                  </a:srgbClr>
                </a:gs>
              </a:gsLst>
              <a:lin ang="0"/>
            </a:gradFill>
            <a:ln cap="rnd">
              <a:noFill/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2012802" cy="2495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>
            <a:grpSpLocks noChangeAspect="true"/>
          </p:cNvGrpSpPr>
          <p:nvPr/>
        </p:nvGrpSpPr>
        <p:grpSpPr>
          <a:xfrm rot="0">
            <a:off x="15330745" y="1946144"/>
            <a:ext cx="1677588" cy="3319396"/>
            <a:chOff x="0" y="0"/>
            <a:chExt cx="2620010" cy="51841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5"/>
              <a:stretch>
                <a:fillRect l="-112379" t="0" r="-112379" b="0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B5B5B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5B5B5B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EBCEB5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EBCEB5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EBCEB5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EBCEB5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FCE9D8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9365974" y="1946144"/>
            <a:ext cx="5744142" cy="3319396"/>
            <a:chOff x="0" y="0"/>
            <a:chExt cx="1396651" cy="807089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396651" cy="807089"/>
            </a:xfrm>
            <a:custGeom>
              <a:avLst/>
              <a:gdLst/>
              <a:ahLst/>
              <a:cxnLst/>
              <a:rect r="r" b="b" t="t" l="l"/>
              <a:pathLst>
                <a:path h="807089" w="1396651">
                  <a:moveTo>
                    <a:pt x="30999" y="0"/>
                  </a:moveTo>
                  <a:lnTo>
                    <a:pt x="1365651" y="0"/>
                  </a:lnTo>
                  <a:cubicBezTo>
                    <a:pt x="1382772" y="0"/>
                    <a:pt x="1396651" y="13879"/>
                    <a:pt x="1396651" y="30999"/>
                  </a:cubicBezTo>
                  <a:lnTo>
                    <a:pt x="1396651" y="776090"/>
                  </a:lnTo>
                  <a:cubicBezTo>
                    <a:pt x="1396651" y="784312"/>
                    <a:pt x="1393385" y="792196"/>
                    <a:pt x="1387571" y="798010"/>
                  </a:cubicBezTo>
                  <a:cubicBezTo>
                    <a:pt x="1381758" y="803823"/>
                    <a:pt x="1373873" y="807089"/>
                    <a:pt x="1365651" y="807089"/>
                  </a:cubicBezTo>
                  <a:lnTo>
                    <a:pt x="30999" y="807089"/>
                  </a:lnTo>
                  <a:cubicBezTo>
                    <a:pt x="22778" y="807089"/>
                    <a:pt x="14893" y="803823"/>
                    <a:pt x="9079" y="798010"/>
                  </a:cubicBezTo>
                  <a:cubicBezTo>
                    <a:pt x="3266" y="792196"/>
                    <a:pt x="0" y="784312"/>
                    <a:pt x="0" y="776090"/>
                  </a:cubicBezTo>
                  <a:lnTo>
                    <a:pt x="0" y="30999"/>
                  </a:lnTo>
                  <a:cubicBezTo>
                    <a:pt x="0" y="22778"/>
                    <a:pt x="3266" y="14893"/>
                    <a:pt x="9079" y="9079"/>
                  </a:cubicBezTo>
                  <a:cubicBezTo>
                    <a:pt x="14893" y="3266"/>
                    <a:pt x="22778" y="0"/>
                    <a:pt x="30999" y="0"/>
                  </a:cubicBezTo>
                  <a:close/>
                </a:path>
              </a:pathLst>
            </a:custGeom>
            <a:blipFill>
              <a:blip r:embed="rId6"/>
              <a:stretch>
                <a:fillRect l="0" t="-7735" r="0" b="-7735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9365974" y="5563061"/>
            <a:ext cx="2373788" cy="1616180"/>
            <a:chOff x="0" y="0"/>
            <a:chExt cx="577171" cy="39296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77171" cy="392964"/>
            </a:xfrm>
            <a:custGeom>
              <a:avLst/>
              <a:gdLst/>
              <a:ahLst/>
              <a:cxnLst/>
              <a:rect r="r" b="b" t="t" l="l"/>
              <a:pathLst>
                <a:path h="392964" w="577171">
                  <a:moveTo>
                    <a:pt x="75013" y="0"/>
                  </a:moveTo>
                  <a:lnTo>
                    <a:pt x="502158" y="0"/>
                  </a:lnTo>
                  <a:cubicBezTo>
                    <a:pt x="543587" y="0"/>
                    <a:pt x="577171" y="33584"/>
                    <a:pt x="577171" y="75013"/>
                  </a:cubicBezTo>
                  <a:lnTo>
                    <a:pt x="577171" y="317951"/>
                  </a:lnTo>
                  <a:cubicBezTo>
                    <a:pt x="577171" y="359379"/>
                    <a:pt x="543587" y="392964"/>
                    <a:pt x="502158" y="392964"/>
                  </a:cubicBezTo>
                  <a:lnTo>
                    <a:pt x="75013" y="392964"/>
                  </a:lnTo>
                  <a:cubicBezTo>
                    <a:pt x="33584" y="392964"/>
                    <a:pt x="0" y="359379"/>
                    <a:pt x="0" y="317951"/>
                  </a:cubicBezTo>
                  <a:lnTo>
                    <a:pt x="0" y="75013"/>
                  </a:lnTo>
                  <a:cubicBezTo>
                    <a:pt x="0" y="33584"/>
                    <a:pt x="33584" y="0"/>
                    <a:pt x="75013" y="0"/>
                  </a:cubicBezTo>
                  <a:close/>
                </a:path>
              </a:pathLst>
            </a:custGeom>
            <a:blipFill>
              <a:blip r:embed="rId7"/>
              <a:stretch>
                <a:fillRect l="-1016" t="0" r="-1016" b="0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2000259" y="5563061"/>
            <a:ext cx="2373788" cy="1616180"/>
            <a:chOff x="0" y="0"/>
            <a:chExt cx="577171" cy="39296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77171" cy="392964"/>
            </a:xfrm>
            <a:custGeom>
              <a:avLst/>
              <a:gdLst/>
              <a:ahLst/>
              <a:cxnLst/>
              <a:rect r="r" b="b" t="t" l="l"/>
              <a:pathLst>
                <a:path h="392964" w="577171">
                  <a:moveTo>
                    <a:pt x="75013" y="0"/>
                  </a:moveTo>
                  <a:lnTo>
                    <a:pt x="502158" y="0"/>
                  </a:lnTo>
                  <a:cubicBezTo>
                    <a:pt x="543587" y="0"/>
                    <a:pt x="577171" y="33584"/>
                    <a:pt x="577171" y="75013"/>
                  </a:cubicBezTo>
                  <a:lnTo>
                    <a:pt x="577171" y="317951"/>
                  </a:lnTo>
                  <a:cubicBezTo>
                    <a:pt x="577171" y="359379"/>
                    <a:pt x="543587" y="392964"/>
                    <a:pt x="502158" y="392964"/>
                  </a:cubicBezTo>
                  <a:lnTo>
                    <a:pt x="75013" y="392964"/>
                  </a:lnTo>
                  <a:cubicBezTo>
                    <a:pt x="33584" y="392964"/>
                    <a:pt x="0" y="359379"/>
                    <a:pt x="0" y="317951"/>
                  </a:cubicBezTo>
                  <a:lnTo>
                    <a:pt x="0" y="75013"/>
                  </a:lnTo>
                  <a:cubicBezTo>
                    <a:pt x="0" y="33584"/>
                    <a:pt x="33584" y="0"/>
                    <a:pt x="75013" y="0"/>
                  </a:cubicBezTo>
                  <a:close/>
                </a:path>
              </a:pathLst>
            </a:custGeom>
            <a:blipFill>
              <a:blip r:embed="rId8"/>
              <a:stretch>
                <a:fillRect l="-1016" t="0" r="-1016" b="0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4634544" y="5563061"/>
            <a:ext cx="2373788" cy="1616180"/>
            <a:chOff x="0" y="0"/>
            <a:chExt cx="577171" cy="392964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77171" cy="392964"/>
            </a:xfrm>
            <a:custGeom>
              <a:avLst/>
              <a:gdLst/>
              <a:ahLst/>
              <a:cxnLst/>
              <a:rect r="r" b="b" t="t" l="l"/>
              <a:pathLst>
                <a:path h="392964" w="577171">
                  <a:moveTo>
                    <a:pt x="75013" y="0"/>
                  </a:moveTo>
                  <a:lnTo>
                    <a:pt x="502158" y="0"/>
                  </a:lnTo>
                  <a:cubicBezTo>
                    <a:pt x="543587" y="0"/>
                    <a:pt x="577171" y="33584"/>
                    <a:pt x="577171" y="75013"/>
                  </a:cubicBezTo>
                  <a:lnTo>
                    <a:pt x="577171" y="317951"/>
                  </a:lnTo>
                  <a:cubicBezTo>
                    <a:pt x="577171" y="359379"/>
                    <a:pt x="543587" y="392964"/>
                    <a:pt x="502158" y="392964"/>
                  </a:cubicBezTo>
                  <a:lnTo>
                    <a:pt x="75013" y="392964"/>
                  </a:lnTo>
                  <a:cubicBezTo>
                    <a:pt x="33584" y="392964"/>
                    <a:pt x="0" y="359379"/>
                    <a:pt x="0" y="317951"/>
                  </a:cubicBezTo>
                  <a:lnTo>
                    <a:pt x="0" y="75013"/>
                  </a:lnTo>
                  <a:cubicBezTo>
                    <a:pt x="0" y="33584"/>
                    <a:pt x="33584" y="0"/>
                    <a:pt x="75013" y="0"/>
                  </a:cubicBezTo>
                  <a:close/>
                </a:path>
              </a:pathLst>
            </a:custGeom>
            <a:blipFill>
              <a:blip r:embed="rId9"/>
              <a:stretch>
                <a:fillRect l="-1016" t="0" r="-1016" b="0"/>
              </a:stretch>
            </a:blipFill>
          </p:spPr>
        </p:sp>
      </p:grpSp>
      <p:sp>
        <p:nvSpPr>
          <p:cNvPr name="Freeform 29" id="29"/>
          <p:cNvSpPr/>
          <p:nvPr/>
        </p:nvSpPr>
        <p:spPr>
          <a:xfrm flipH="false" flipV="false" rot="0">
            <a:off x="9763038" y="7848469"/>
            <a:ext cx="279188" cy="218275"/>
          </a:xfrm>
          <a:custGeom>
            <a:avLst/>
            <a:gdLst/>
            <a:ahLst/>
            <a:cxnLst/>
            <a:rect r="r" b="b" t="t" l="l"/>
            <a:pathLst>
              <a:path h="218275" w="279188">
                <a:moveTo>
                  <a:pt x="0" y="0"/>
                </a:moveTo>
                <a:lnTo>
                  <a:pt x="279188" y="0"/>
                </a:lnTo>
                <a:lnTo>
                  <a:pt x="279188" y="218274"/>
                </a:lnTo>
                <a:lnTo>
                  <a:pt x="0" y="21827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true" flipV="true" rot="0">
            <a:off x="16332081" y="7848469"/>
            <a:ext cx="279188" cy="218275"/>
          </a:xfrm>
          <a:custGeom>
            <a:avLst/>
            <a:gdLst/>
            <a:ahLst/>
            <a:cxnLst/>
            <a:rect r="r" b="b" t="t" l="l"/>
            <a:pathLst>
              <a:path h="218275" w="279188">
                <a:moveTo>
                  <a:pt x="279188" y="218274"/>
                </a:moveTo>
                <a:lnTo>
                  <a:pt x="0" y="218274"/>
                </a:lnTo>
                <a:lnTo>
                  <a:pt x="0" y="0"/>
                </a:lnTo>
                <a:lnTo>
                  <a:pt x="279188" y="0"/>
                </a:lnTo>
                <a:lnTo>
                  <a:pt x="279188" y="218274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1" id="31"/>
          <p:cNvSpPr/>
          <p:nvPr/>
        </p:nvSpPr>
        <p:spPr>
          <a:xfrm>
            <a:off x="803038" y="9747394"/>
            <a:ext cx="16681923" cy="0"/>
          </a:xfrm>
          <a:prstGeom prst="line">
            <a:avLst/>
          </a:prstGeom>
          <a:ln cap="flat" w="28575">
            <a:gradFill>
              <a:gsLst>
                <a:gs pos="0">
                  <a:srgbClr val="6521F1">
                    <a:alpha val="100000"/>
                  </a:srgbClr>
                </a:gs>
                <a:gs pos="50000">
                  <a:srgbClr val="C437CF">
                    <a:alpha val="100000"/>
                  </a:srgbClr>
                </a:gs>
                <a:gs pos="100000">
                  <a:srgbClr val="FA5F69">
                    <a:alpha val="100000"/>
                  </a:srgbClr>
                </a:gs>
              </a:gsLst>
              <a:lin ang="270000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Freeform 32" id="32"/>
          <p:cNvSpPr/>
          <p:nvPr/>
        </p:nvSpPr>
        <p:spPr>
          <a:xfrm flipH="false" flipV="false" rot="-5400000">
            <a:off x="16951514" y="9569305"/>
            <a:ext cx="186550" cy="933252"/>
          </a:xfrm>
          <a:custGeom>
            <a:avLst/>
            <a:gdLst/>
            <a:ahLst/>
            <a:cxnLst/>
            <a:rect r="r" b="b" t="t" l="l"/>
            <a:pathLst>
              <a:path h="933252" w="186550">
                <a:moveTo>
                  <a:pt x="0" y="0"/>
                </a:moveTo>
                <a:lnTo>
                  <a:pt x="186550" y="0"/>
                </a:lnTo>
                <a:lnTo>
                  <a:pt x="186550" y="933252"/>
                </a:lnTo>
                <a:lnTo>
                  <a:pt x="0" y="93325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-146966" b="-27809"/>
            </a:stretch>
          </a:blipFill>
        </p:spPr>
      </p:sp>
      <p:grpSp>
        <p:nvGrpSpPr>
          <p:cNvPr name="Group 33" id="33"/>
          <p:cNvGrpSpPr/>
          <p:nvPr/>
        </p:nvGrpSpPr>
        <p:grpSpPr>
          <a:xfrm rot="0">
            <a:off x="803038" y="4021961"/>
            <a:ext cx="6673905" cy="1703742"/>
            <a:chOff x="0" y="0"/>
            <a:chExt cx="8898539" cy="2271656"/>
          </a:xfrm>
        </p:grpSpPr>
        <p:grpSp>
          <p:nvGrpSpPr>
            <p:cNvPr name="Group 34" id="34"/>
            <p:cNvGrpSpPr/>
            <p:nvPr/>
          </p:nvGrpSpPr>
          <p:grpSpPr>
            <a:xfrm rot="0">
              <a:off x="0" y="0"/>
              <a:ext cx="8898539" cy="2271656"/>
              <a:chOff x="0" y="0"/>
              <a:chExt cx="1757736" cy="448722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1757736" cy="448722"/>
              </a:xfrm>
              <a:custGeom>
                <a:avLst/>
                <a:gdLst/>
                <a:ahLst/>
                <a:cxnLst/>
                <a:rect r="r" b="b" t="t" l="l"/>
                <a:pathLst>
                  <a:path h="448722" w="1757736">
                    <a:moveTo>
                      <a:pt x="27841" y="0"/>
                    </a:moveTo>
                    <a:lnTo>
                      <a:pt x="1729895" y="0"/>
                    </a:lnTo>
                    <a:cubicBezTo>
                      <a:pt x="1737279" y="0"/>
                      <a:pt x="1744361" y="2933"/>
                      <a:pt x="1749582" y="8154"/>
                    </a:cubicBezTo>
                    <a:cubicBezTo>
                      <a:pt x="1754803" y="13375"/>
                      <a:pt x="1757736" y="20457"/>
                      <a:pt x="1757736" y="27841"/>
                    </a:cubicBezTo>
                    <a:lnTo>
                      <a:pt x="1757736" y="420882"/>
                    </a:lnTo>
                    <a:cubicBezTo>
                      <a:pt x="1757736" y="436258"/>
                      <a:pt x="1745271" y="448722"/>
                      <a:pt x="1729895" y="448722"/>
                    </a:cubicBezTo>
                    <a:lnTo>
                      <a:pt x="27841" y="448722"/>
                    </a:lnTo>
                    <a:cubicBezTo>
                      <a:pt x="12465" y="448722"/>
                      <a:pt x="0" y="436258"/>
                      <a:pt x="0" y="420882"/>
                    </a:cubicBezTo>
                    <a:lnTo>
                      <a:pt x="0" y="27841"/>
                    </a:lnTo>
                    <a:cubicBezTo>
                      <a:pt x="0" y="12465"/>
                      <a:pt x="12465" y="0"/>
                      <a:pt x="27841" y="0"/>
                    </a:cubicBezTo>
                    <a:close/>
                  </a:path>
                </a:pathLst>
              </a:custGeom>
              <a:solidFill>
                <a:srgbClr val="FAFAFC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0" y="-57150"/>
                <a:ext cx="1757736" cy="50587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AutoShape 37" id="37"/>
            <p:cNvSpPr/>
            <p:nvPr/>
          </p:nvSpPr>
          <p:spPr>
            <a:xfrm>
              <a:off x="1622740" y="332634"/>
              <a:ext cx="0" cy="1634344"/>
            </a:xfrm>
            <a:prstGeom prst="line">
              <a:avLst/>
            </a:prstGeom>
            <a:ln cap="flat" w="38100">
              <a:solidFill>
                <a:srgbClr val="E6E2F5"/>
              </a:solidFill>
              <a:prstDash val="solid"/>
              <a:headEnd type="none" len="sm" w="sm"/>
              <a:tailEnd type="none" len="sm" w="sm"/>
            </a:ln>
          </p:spPr>
        </p:sp>
        <p:grpSp>
          <p:nvGrpSpPr>
            <p:cNvPr name="Group 38" id="38"/>
            <p:cNvGrpSpPr/>
            <p:nvPr/>
          </p:nvGrpSpPr>
          <p:grpSpPr>
            <a:xfrm rot="0">
              <a:off x="266333" y="304679"/>
              <a:ext cx="1033023" cy="1033023"/>
              <a:chOff x="0" y="0"/>
              <a:chExt cx="812800" cy="812800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6521F1">
                      <a:alpha val="100000"/>
                    </a:srgbClr>
                  </a:gs>
                  <a:gs pos="50000">
                    <a:srgbClr val="C437CF">
                      <a:alpha val="100000"/>
                    </a:srgbClr>
                  </a:gs>
                  <a:gs pos="100000">
                    <a:srgbClr val="FA5F69">
                      <a:alpha val="100000"/>
                    </a:srgbClr>
                  </a:gs>
                </a:gsLst>
                <a:lin ang="2700000"/>
              </a:gradFill>
            </p:spPr>
          </p:sp>
          <p:sp>
            <p:nvSpPr>
              <p:cNvPr name="TextBox 40" id="40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41" id="41"/>
            <p:cNvSpPr/>
            <p:nvPr/>
          </p:nvSpPr>
          <p:spPr>
            <a:xfrm flipH="false" flipV="false" rot="0">
              <a:off x="420654" y="466055"/>
              <a:ext cx="724382" cy="739165"/>
            </a:xfrm>
            <a:custGeom>
              <a:avLst/>
              <a:gdLst/>
              <a:ahLst/>
              <a:cxnLst/>
              <a:rect r="r" b="b" t="t" l="l"/>
              <a:pathLst>
                <a:path h="739165" w="724382">
                  <a:moveTo>
                    <a:pt x="0" y="0"/>
                  </a:moveTo>
                  <a:lnTo>
                    <a:pt x="724382" y="0"/>
                  </a:lnTo>
                  <a:lnTo>
                    <a:pt x="724382" y="739165"/>
                  </a:lnTo>
                  <a:lnTo>
                    <a:pt x="0" y="7391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 rot="0">
              <a:off x="1946590" y="362302"/>
              <a:ext cx="6511600" cy="146663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39"/>
                </a:lnSpc>
                <a:spcBef>
                  <a:spcPct val="0"/>
                </a:spcBef>
              </a:pPr>
              <a:r>
                <a:rPr lang="en-US" sz="1599">
                  <a:solidFill>
                    <a:srgbClr val="000037"/>
                  </a:solidFill>
                  <a:latin typeface="Arial"/>
                  <a:ea typeface="Arial"/>
                  <a:cs typeface="Arial"/>
                  <a:sym typeface="Arial"/>
                </a:rPr>
                <a:t>Current AI deployments lack real-time telemetry across inference planes. Waiting for </a:t>
              </a:r>
              <a:r>
                <a:rPr lang="en-US" sz="1599">
                  <a:solidFill>
                    <a:srgbClr val="000037"/>
                  </a:solidFill>
                  <a:latin typeface="Arial"/>
                  <a:ea typeface="Arial"/>
                  <a:cs typeface="Arial"/>
                  <a:sym typeface="Arial"/>
                </a:rPr>
                <a:t>user feedback to identify confidently wr</a:t>
              </a:r>
              <a:r>
                <a:rPr lang="en-US" sz="1599">
                  <a:solidFill>
                    <a:srgbClr val="000037"/>
                  </a:solidFill>
                  <a:latin typeface="Arial"/>
                  <a:ea typeface="Arial"/>
                  <a:cs typeface="Arial"/>
                  <a:sym typeface="Arial"/>
                </a:rPr>
                <a:t>ong, expensive, or unsafe outputs is a critical operational failure.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751978" y="6793368"/>
            <a:ext cx="6673905" cy="2464932"/>
            <a:chOff x="0" y="0"/>
            <a:chExt cx="1757736" cy="6492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757736" cy="649200"/>
            </a:xfrm>
            <a:custGeom>
              <a:avLst/>
              <a:gdLst/>
              <a:ahLst/>
              <a:cxnLst/>
              <a:rect r="r" b="b" t="t" l="l"/>
              <a:pathLst>
                <a:path h="649200" w="1757736">
                  <a:moveTo>
                    <a:pt x="27841" y="0"/>
                  </a:moveTo>
                  <a:lnTo>
                    <a:pt x="1729895" y="0"/>
                  </a:lnTo>
                  <a:cubicBezTo>
                    <a:pt x="1737279" y="0"/>
                    <a:pt x="1744361" y="2933"/>
                    <a:pt x="1749582" y="8154"/>
                  </a:cubicBezTo>
                  <a:cubicBezTo>
                    <a:pt x="1754803" y="13375"/>
                    <a:pt x="1757736" y="20457"/>
                    <a:pt x="1757736" y="27841"/>
                  </a:cubicBezTo>
                  <a:lnTo>
                    <a:pt x="1757736" y="621360"/>
                  </a:lnTo>
                  <a:cubicBezTo>
                    <a:pt x="1757736" y="636736"/>
                    <a:pt x="1745271" y="649200"/>
                    <a:pt x="1729895" y="649200"/>
                  </a:cubicBezTo>
                  <a:lnTo>
                    <a:pt x="27841" y="649200"/>
                  </a:lnTo>
                  <a:cubicBezTo>
                    <a:pt x="12465" y="649200"/>
                    <a:pt x="0" y="636736"/>
                    <a:pt x="0" y="621360"/>
                  </a:cubicBezTo>
                  <a:lnTo>
                    <a:pt x="0" y="27841"/>
                  </a:lnTo>
                  <a:cubicBezTo>
                    <a:pt x="0" y="12465"/>
                    <a:pt x="12465" y="0"/>
                    <a:pt x="27841" y="0"/>
                  </a:cubicBezTo>
                  <a:close/>
                </a:path>
              </a:pathLst>
            </a:custGeom>
            <a:solidFill>
              <a:srgbClr val="FAFAFC"/>
            </a:solidFill>
            <a:ln cap="rnd">
              <a:noFill/>
              <a:prstDash val="solid"/>
              <a:round/>
            </a:ln>
          </p:spPr>
        </p:sp>
        <p:sp>
          <p:nvSpPr>
            <p:cNvPr name="TextBox 45" id="45"/>
            <p:cNvSpPr txBox="true"/>
            <p:nvPr/>
          </p:nvSpPr>
          <p:spPr>
            <a:xfrm>
              <a:off x="0" y="-47625"/>
              <a:ext cx="1757736" cy="696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46" id="46"/>
          <p:cNvSpPr/>
          <p:nvPr/>
        </p:nvSpPr>
        <p:spPr>
          <a:xfrm>
            <a:off x="1969033" y="7042843"/>
            <a:ext cx="0" cy="1950905"/>
          </a:xfrm>
          <a:prstGeom prst="line">
            <a:avLst/>
          </a:prstGeom>
          <a:ln cap="flat" w="28575">
            <a:solidFill>
              <a:srgbClr val="E6E2F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7" id="47"/>
          <p:cNvGrpSpPr/>
          <p:nvPr/>
        </p:nvGrpSpPr>
        <p:grpSpPr>
          <a:xfrm rot="0">
            <a:off x="951728" y="7021877"/>
            <a:ext cx="774767" cy="774767"/>
            <a:chOff x="0" y="0"/>
            <a:chExt cx="812800" cy="8128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6521F1">
                    <a:alpha val="100000"/>
                  </a:srgbClr>
                </a:gs>
                <a:gs pos="50000">
                  <a:srgbClr val="C437CF">
                    <a:alpha val="100000"/>
                  </a:srgbClr>
                </a:gs>
                <a:gs pos="100000">
                  <a:srgbClr val="FA5F69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49" id="49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0" id="50"/>
          <p:cNvSpPr txBox="true"/>
          <p:nvPr/>
        </p:nvSpPr>
        <p:spPr>
          <a:xfrm rot="0">
            <a:off x="2211920" y="7053188"/>
            <a:ext cx="4883700" cy="1940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37"/>
                </a:solidFill>
                <a:latin typeface="Arial"/>
                <a:ea typeface="Arial"/>
                <a:cs typeface="Arial"/>
                <a:sym typeface="Arial"/>
              </a:rPr>
              <a:t>Using a non blocking sidecar proxy to intercept LLM payloads at the network lay</a:t>
            </a:r>
            <a:r>
              <a:rPr lang="en-US" sz="1599">
                <a:solidFill>
                  <a:srgbClr val="000037"/>
                </a:solidFill>
                <a:latin typeface="Arial"/>
                <a:ea typeface="Arial"/>
                <a:cs typeface="Arial"/>
                <a:sym typeface="Arial"/>
              </a:rPr>
              <a:t>er. Leveraging an asynchr</a:t>
            </a:r>
            <a:r>
              <a:rPr lang="en-US" sz="1599">
                <a:solidFill>
                  <a:srgbClr val="000037"/>
                </a:solidFill>
                <a:latin typeface="Arial"/>
                <a:ea typeface="Arial"/>
                <a:cs typeface="Arial"/>
                <a:sym typeface="Arial"/>
              </a:rPr>
              <a:t>onous, event-driven architecture (Kafka/Redis), it forks the stream; delivering the primary response to the user instantly while micro agents perform parallel, real time verification to eliminate system bottlenecks.</a:t>
            </a:r>
          </a:p>
        </p:txBody>
      </p:sp>
      <p:sp>
        <p:nvSpPr>
          <p:cNvPr name="Freeform 51" id="51"/>
          <p:cNvSpPr/>
          <p:nvPr/>
        </p:nvSpPr>
        <p:spPr>
          <a:xfrm flipH="false" flipV="false" rot="0">
            <a:off x="1028700" y="7109996"/>
            <a:ext cx="649801" cy="623809"/>
          </a:xfrm>
          <a:custGeom>
            <a:avLst/>
            <a:gdLst/>
            <a:ahLst/>
            <a:cxnLst/>
            <a:rect r="r" b="b" t="t" l="l"/>
            <a:pathLst>
              <a:path h="623809" w="649801">
                <a:moveTo>
                  <a:pt x="0" y="0"/>
                </a:moveTo>
                <a:lnTo>
                  <a:pt x="649801" y="0"/>
                </a:lnTo>
                <a:lnTo>
                  <a:pt x="649801" y="623809"/>
                </a:lnTo>
                <a:lnTo>
                  <a:pt x="0" y="623809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2" id="52"/>
          <p:cNvSpPr txBox="true"/>
          <p:nvPr/>
        </p:nvSpPr>
        <p:spPr>
          <a:xfrm rot="0">
            <a:off x="1300910" y="487753"/>
            <a:ext cx="2216190" cy="332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 b="true">
                <a:solidFill>
                  <a:srgbClr val="000037"/>
                </a:solidFill>
                <a:latin typeface="Arial Bold"/>
                <a:ea typeface="Arial Bold"/>
                <a:cs typeface="Arial Bold"/>
                <a:sym typeface="Arial Bold"/>
              </a:rPr>
              <a:t>ControlPlane.ai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803038" y="1214722"/>
            <a:ext cx="6622844" cy="1876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20"/>
              </a:lnSpc>
            </a:pPr>
            <a:r>
              <a:rPr lang="en-US" b="true" sz="6586">
                <a:gradFill>
                  <a:gsLst>
                    <a:gs pos="0">
                      <a:srgbClr val="6521F1">
                        <a:alpha val="100000"/>
                      </a:srgbClr>
                    </a:gs>
                    <a:gs pos="50000">
                      <a:srgbClr val="C437CF">
                        <a:alpha val="100000"/>
                      </a:srgbClr>
                    </a:gs>
                    <a:gs pos="100000">
                      <a:srgbClr val="FA5F69">
                        <a:alpha val="100000"/>
                      </a:srgbClr>
                    </a:gs>
                  </a:gsLst>
                  <a:lin ang="2700000"/>
                </a:gradFill>
                <a:latin typeface="Arial Bold"/>
                <a:ea typeface="Arial Bold"/>
                <a:cs typeface="Arial Bold"/>
                <a:sym typeface="Arial Bold"/>
              </a:rPr>
              <a:t>ControlPlane.ai:</a:t>
            </a:r>
          </a:p>
          <a:p>
            <a:pPr algn="l">
              <a:lnSpc>
                <a:spcPts val="5440"/>
              </a:lnSpc>
            </a:pPr>
            <a:r>
              <a:rPr lang="en-US" b="true" sz="3886">
                <a:gradFill>
                  <a:gsLst>
                    <a:gs pos="0">
                      <a:srgbClr val="6521F1">
                        <a:alpha val="100000"/>
                      </a:srgbClr>
                    </a:gs>
                    <a:gs pos="50000">
                      <a:srgbClr val="C437CF">
                        <a:alpha val="100000"/>
                      </a:srgbClr>
                    </a:gs>
                    <a:gs pos="100000">
                      <a:srgbClr val="FA5F69">
                        <a:alpha val="100000"/>
                      </a:srgbClr>
                    </a:gs>
                  </a:gsLst>
                  <a:lin ang="2700000"/>
                </a:gradFill>
                <a:latin typeface="Arial Bold"/>
                <a:ea typeface="Arial Bold"/>
                <a:cs typeface="Arial Bold"/>
                <a:sym typeface="Arial Bold"/>
              </a:rPr>
              <a:t>Sidecar Orchestration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803038" y="3434392"/>
            <a:ext cx="7278462" cy="492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9"/>
              </a:lnSpc>
              <a:spcBef>
                <a:spcPct val="0"/>
              </a:spcBef>
            </a:pPr>
            <a:r>
              <a:rPr lang="en-US" sz="2742" b="true">
                <a:solidFill>
                  <a:srgbClr val="000037"/>
                </a:solidFill>
                <a:latin typeface="Arial Bold"/>
                <a:ea typeface="Arial Bold"/>
                <a:cs typeface="Arial Bold"/>
                <a:sym typeface="Arial Bold"/>
              </a:rPr>
              <a:t>The Problem: After the Fact Discovery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0259101" y="7792225"/>
            <a:ext cx="5856105" cy="283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d</a:t>
            </a:r>
            <a:r>
              <a:rPr lang="en-US" sz="159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ifference between finding </a:t>
            </a:r>
            <a:r>
              <a:rPr lang="en-US" sz="1599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out and finding it first.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803038" y="6203201"/>
            <a:ext cx="7278462" cy="492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9"/>
              </a:lnSpc>
              <a:spcBef>
                <a:spcPct val="0"/>
              </a:spcBef>
            </a:pPr>
            <a:r>
              <a:rPr lang="en-US" sz="2742" b="true">
                <a:solidFill>
                  <a:srgbClr val="000037"/>
                </a:solidFill>
                <a:latin typeface="Arial Bold"/>
                <a:ea typeface="Arial Bold"/>
                <a:cs typeface="Arial Bold"/>
                <a:sym typeface="Arial Bold"/>
              </a:rPr>
              <a:t>The Technical Approach</a:t>
            </a:r>
          </a:p>
        </p:txBody>
      </p:sp>
      <p:grpSp>
        <p:nvGrpSpPr>
          <p:cNvPr name="Group 57" id="57"/>
          <p:cNvGrpSpPr/>
          <p:nvPr/>
        </p:nvGrpSpPr>
        <p:grpSpPr>
          <a:xfrm rot="0">
            <a:off x="17115282" y="545603"/>
            <a:ext cx="288036" cy="303495"/>
            <a:chOff x="0" y="0"/>
            <a:chExt cx="384048" cy="404660"/>
          </a:xfrm>
        </p:grpSpPr>
        <p:sp>
          <p:nvSpPr>
            <p:cNvPr name="Freeform 58" id="58" descr="A picture containing drawing, clock  Description automatically generated"/>
            <p:cNvSpPr/>
            <p:nvPr/>
          </p:nvSpPr>
          <p:spPr>
            <a:xfrm flipH="false" flipV="false" rot="0">
              <a:off x="0" y="0"/>
              <a:ext cx="384048" cy="404622"/>
            </a:xfrm>
            <a:custGeom>
              <a:avLst/>
              <a:gdLst/>
              <a:ahLst/>
              <a:cxnLst/>
              <a:rect r="r" b="b" t="t" l="l"/>
              <a:pathLst>
                <a:path h="404622" w="384048">
                  <a:moveTo>
                    <a:pt x="0" y="0"/>
                  </a:moveTo>
                  <a:lnTo>
                    <a:pt x="384048" y="0"/>
                  </a:lnTo>
                  <a:lnTo>
                    <a:pt x="384048" y="404622"/>
                  </a:lnTo>
                  <a:lnTo>
                    <a:pt x="0" y="4046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-175" t="0" r="-171" b="-9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803038" y="1019175"/>
            <a:ext cx="16681923" cy="0"/>
          </a:xfrm>
          <a:prstGeom prst="line">
            <a:avLst/>
          </a:prstGeom>
          <a:ln cap="flat" w="28575">
            <a:gradFill>
              <a:gsLst>
                <a:gs pos="0">
                  <a:srgbClr val="6521F1">
                    <a:alpha val="100000"/>
                  </a:srgbClr>
                </a:gs>
                <a:gs pos="50000">
                  <a:srgbClr val="C437CF">
                    <a:alpha val="100000"/>
                  </a:srgbClr>
                </a:gs>
                <a:gs pos="100000">
                  <a:srgbClr val="FA5F69">
                    <a:alpha val="100000"/>
                  </a:srgbClr>
                </a:gs>
              </a:gsLst>
              <a:lin ang="270000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1853746" y="5058618"/>
            <a:ext cx="8529366" cy="8615521"/>
          </a:xfrm>
          <a:custGeom>
            <a:avLst/>
            <a:gdLst/>
            <a:ahLst/>
            <a:cxnLst/>
            <a:rect r="r" b="b" t="t" l="l"/>
            <a:pathLst>
              <a:path h="8615521" w="8529366">
                <a:moveTo>
                  <a:pt x="0" y="0"/>
                </a:moveTo>
                <a:lnTo>
                  <a:pt x="8529366" y="0"/>
                </a:lnTo>
                <a:lnTo>
                  <a:pt x="8529366" y="8615521"/>
                </a:lnTo>
                <a:lnTo>
                  <a:pt x="0" y="86155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4000"/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>
            <a:off x="803038" y="9747394"/>
            <a:ext cx="16681923" cy="0"/>
          </a:xfrm>
          <a:prstGeom prst="line">
            <a:avLst/>
          </a:prstGeom>
          <a:ln cap="flat" w="28575">
            <a:gradFill>
              <a:gsLst>
                <a:gs pos="0">
                  <a:srgbClr val="6521F1">
                    <a:alpha val="100000"/>
                  </a:srgbClr>
                </a:gs>
                <a:gs pos="50000">
                  <a:srgbClr val="C437CF">
                    <a:alpha val="100000"/>
                  </a:srgbClr>
                </a:gs>
                <a:gs pos="100000">
                  <a:srgbClr val="FA5F69">
                    <a:alpha val="100000"/>
                  </a:srgbClr>
                </a:gs>
              </a:gsLst>
              <a:lin ang="270000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-5400000">
            <a:off x="16951514" y="9569305"/>
            <a:ext cx="186550" cy="933252"/>
          </a:xfrm>
          <a:custGeom>
            <a:avLst/>
            <a:gdLst/>
            <a:ahLst/>
            <a:cxnLst/>
            <a:rect r="r" b="b" t="t" l="l"/>
            <a:pathLst>
              <a:path h="933252" w="186550">
                <a:moveTo>
                  <a:pt x="0" y="0"/>
                </a:moveTo>
                <a:lnTo>
                  <a:pt x="186550" y="0"/>
                </a:lnTo>
                <a:lnTo>
                  <a:pt x="186550" y="933252"/>
                </a:lnTo>
                <a:lnTo>
                  <a:pt x="0" y="93325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-146966" b="-27809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6428470" y="1875620"/>
            <a:ext cx="11056492" cy="4901054"/>
            <a:chOff x="0" y="0"/>
            <a:chExt cx="2911998" cy="129081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911998" cy="1290813"/>
            </a:xfrm>
            <a:custGeom>
              <a:avLst/>
              <a:gdLst/>
              <a:ahLst/>
              <a:cxnLst/>
              <a:rect r="r" b="b" t="t" l="l"/>
              <a:pathLst>
                <a:path h="1290813" w="2911998">
                  <a:moveTo>
                    <a:pt x="28009" y="0"/>
                  </a:moveTo>
                  <a:lnTo>
                    <a:pt x="2883989" y="0"/>
                  </a:lnTo>
                  <a:cubicBezTo>
                    <a:pt x="2891418" y="0"/>
                    <a:pt x="2898542" y="2951"/>
                    <a:pt x="2903794" y="8204"/>
                  </a:cubicBezTo>
                  <a:cubicBezTo>
                    <a:pt x="2909047" y="13456"/>
                    <a:pt x="2911998" y="20580"/>
                    <a:pt x="2911998" y="28009"/>
                  </a:cubicBezTo>
                  <a:lnTo>
                    <a:pt x="2911998" y="1262804"/>
                  </a:lnTo>
                  <a:cubicBezTo>
                    <a:pt x="2911998" y="1270232"/>
                    <a:pt x="2909047" y="1277357"/>
                    <a:pt x="2903794" y="1282609"/>
                  </a:cubicBezTo>
                  <a:cubicBezTo>
                    <a:pt x="2898542" y="1287862"/>
                    <a:pt x="2891418" y="1290813"/>
                    <a:pt x="2883989" y="1290813"/>
                  </a:cubicBezTo>
                  <a:lnTo>
                    <a:pt x="28009" y="1290813"/>
                  </a:lnTo>
                  <a:cubicBezTo>
                    <a:pt x="20580" y="1290813"/>
                    <a:pt x="13456" y="1287862"/>
                    <a:pt x="8204" y="1282609"/>
                  </a:cubicBezTo>
                  <a:cubicBezTo>
                    <a:pt x="2951" y="1277357"/>
                    <a:pt x="0" y="1270232"/>
                    <a:pt x="0" y="1262804"/>
                  </a:cubicBezTo>
                  <a:lnTo>
                    <a:pt x="0" y="28009"/>
                  </a:lnTo>
                  <a:cubicBezTo>
                    <a:pt x="0" y="20580"/>
                    <a:pt x="2951" y="13456"/>
                    <a:pt x="8204" y="8204"/>
                  </a:cubicBezTo>
                  <a:cubicBezTo>
                    <a:pt x="13456" y="2951"/>
                    <a:pt x="20580" y="0"/>
                    <a:pt x="2800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4F3FC">
                    <a:alpha val="100000"/>
                  </a:srgbClr>
                </a:gs>
                <a:gs pos="100000">
                  <a:srgbClr val="F9EFF8">
                    <a:alpha val="100000"/>
                  </a:srgbClr>
                </a:gs>
              </a:gsLst>
              <a:lin ang="2700000"/>
            </a:gradFill>
            <a:ln cap="rnd">
              <a:noFill/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911998" cy="13289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803038" y="1390093"/>
            <a:ext cx="6622844" cy="16570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140"/>
              </a:lnSpc>
              <a:spcBef>
                <a:spcPct val="0"/>
              </a:spcBef>
            </a:pPr>
            <a:r>
              <a:rPr lang="en-US" b="true" sz="9385">
                <a:gradFill>
                  <a:gsLst>
                    <a:gs pos="0">
                      <a:srgbClr val="6521F1">
                        <a:alpha val="100000"/>
                      </a:srgbClr>
                    </a:gs>
                    <a:gs pos="50000">
                      <a:srgbClr val="C437CF">
                        <a:alpha val="100000"/>
                      </a:srgbClr>
                    </a:gs>
                    <a:gs pos="100000">
                      <a:srgbClr val="FA5F69">
                        <a:alpha val="100000"/>
                      </a:srgbClr>
                    </a:gs>
                  </a:gsLst>
                  <a:lin ang="2700000"/>
                </a:gradFill>
                <a:latin typeface="Arial Bold"/>
                <a:ea typeface="Arial Bold"/>
                <a:cs typeface="Arial Bold"/>
                <a:sym typeface="Arial Bold"/>
              </a:rPr>
              <a:t>Solution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803038" y="7459029"/>
            <a:ext cx="920750" cy="920750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201799" y="0"/>
                  </a:moveTo>
                  <a:lnTo>
                    <a:pt x="611001" y="0"/>
                  </a:lnTo>
                  <a:cubicBezTo>
                    <a:pt x="664522" y="0"/>
                    <a:pt x="715850" y="21261"/>
                    <a:pt x="753695" y="59105"/>
                  </a:cubicBezTo>
                  <a:cubicBezTo>
                    <a:pt x="791539" y="96950"/>
                    <a:pt x="812800" y="148278"/>
                    <a:pt x="812800" y="201799"/>
                  </a:cubicBezTo>
                  <a:lnTo>
                    <a:pt x="812800" y="611001"/>
                  </a:lnTo>
                  <a:cubicBezTo>
                    <a:pt x="812800" y="664522"/>
                    <a:pt x="791539" y="715850"/>
                    <a:pt x="753695" y="753695"/>
                  </a:cubicBezTo>
                  <a:cubicBezTo>
                    <a:pt x="715850" y="791539"/>
                    <a:pt x="664522" y="812800"/>
                    <a:pt x="611001" y="812800"/>
                  </a:cubicBezTo>
                  <a:lnTo>
                    <a:pt x="201799" y="812800"/>
                  </a:lnTo>
                  <a:cubicBezTo>
                    <a:pt x="148278" y="812800"/>
                    <a:pt x="96950" y="791539"/>
                    <a:pt x="59105" y="753695"/>
                  </a:cubicBezTo>
                  <a:cubicBezTo>
                    <a:pt x="21261" y="715850"/>
                    <a:pt x="0" y="664522"/>
                    <a:pt x="0" y="611001"/>
                  </a:cubicBezTo>
                  <a:lnTo>
                    <a:pt x="0" y="201799"/>
                  </a:lnTo>
                  <a:cubicBezTo>
                    <a:pt x="0" y="148278"/>
                    <a:pt x="21261" y="96950"/>
                    <a:pt x="59105" y="59105"/>
                  </a:cubicBezTo>
                  <a:cubicBezTo>
                    <a:pt x="96950" y="21261"/>
                    <a:pt x="148278" y="0"/>
                    <a:pt x="20179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6521F1">
                    <a:alpha val="100000"/>
                  </a:srgbClr>
                </a:gs>
                <a:gs pos="50000">
                  <a:srgbClr val="C437CF">
                    <a:alpha val="100000"/>
                  </a:srgbClr>
                </a:gs>
                <a:gs pos="100000">
                  <a:srgbClr val="FA5F69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607513" y="7459029"/>
            <a:ext cx="920750" cy="920750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201799" y="0"/>
                  </a:moveTo>
                  <a:lnTo>
                    <a:pt x="611001" y="0"/>
                  </a:lnTo>
                  <a:cubicBezTo>
                    <a:pt x="664522" y="0"/>
                    <a:pt x="715850" y="21261"/>
                    <a:pt x="753695" y="59105"/>
                  </a:cubicBezTo>
                  <a:cubicBezTo>
                    <a:pt x="791539" y="96950"/>
                    <a:pt x="812800" y="148278"/>
                    <a:pt x="812800" y="201799"/>
                  </a:cubicBezTo>
                  <a:lnTo>
                    <a:pt x="812800" y="611001"/>
                  </a:lnTo>
                  <a:cubicBezTo>
                    <a:pt x="812800" y="664522"/>
                    <a:pt x="791539" y="715850"/>
                    <a:pt x="753695" y="753695"/>
                  </a:cubicBezTo>
                  <a:cubicBezTo>
                    <a:pt x="715850" y="791539"/>
                    <a:pt x="664522" y="812800"/>
                    <a:pt x="611001" y="812800"/>
                  </a:cubicBezTo>
                  <a:lnTo>
                    <a:pt x="201799" y="812800"/>
                  </a:lnTo>
                  <a:cubicBezTo>
                    <a:pt x="148278" y="812800"/>
                    <a:pt x="96950" y="791539"/>
                    <a:pt x="59105" y="753695"/>
                  </a:cubicBezTo>
                  <a:cubicBezTo>
                    <a:pt x="21261" y="715850"/>
                    <a:pt x="0" y="664522"/>
                    <a:pt x="0" y="611001"/>
                  </a:cubicBezTo>
                  <a:lnTo>
                    <a:pt x="0" y="201799"/>
                  </a:lnTo>
                  <a:cubicBezTo>
                    <a:pt x="0" y="148278"/>
                    <a:pt x="21261" y="96950"/>
                    <a:pt x="59105" y="59105"/>
                  </a:cubicBezTo>
                  <a:cubicBezTo>
                    <a:pt x="96950" y="21261"/>
                    <a:pt x="148278" y="0"/>
                    <a:pt x="20179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6521F1">
                    <a:alpha val="100000"/>
                  </a:srgbClr>
                </a:gs>
                <a:gs pos="50000">
                  <a:srgbClr val="C437CF">
                    <a:alpha val="100000"/>
                  </a:srgbClr>
                </a:gs>
                <a:gs pos="100000">
                  <a:srgbClr val="FA5F69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AutoShape 16" id="16"/>
          <p:cNvSpPr/>
          <p:nvPr/>
        </p:nvSpPr>
        <p:spPr>
          <a:xfrm>
            <a:off x="6241763" y="7329125"/>
            <a:ext cx="0" cy="2120040"/>
          </a:xfrm>
          <a:prstGeom prst="line">
            <a:avLst/>
          </a:prstGeom>
          <a:ln cap="flat" w="28575">
            <a:solidFill>
              <a:srgbClr val="E6E2F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7" id="17"/>
          <p:cNvSpPr/>
          <p:nvPr/>
        </p:nvSpPr>
        <p:spPr>
          <a:xfrm>
            <a:off x="12046237" y="7329125"/>
            <a:ext cx="0" cy="2172312"/>
          </a:xfrm>
          <a:prstGeom prst="line">
            <a:avLst/>
          </a:prstGeom>
          <a:ln cap="flat" w="28575">
            <a:solidFill>
              <a:srgbClr val="E6E2F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8" id="18"/>
          <p:cNvGrpSpPr/>
          <p:nvPr/>
        </p:nvGrpSpPr>
        <p:grpSpPr>
          <a:xfrm rot="0">
            <a:off x="12411988" y="7459029"/>
            <a:ext cx="920750" cy="920750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201799" y="0"/>
                  </a:moveTo>
                  <a:lnTo>
                    <a:pt x="611001" y="0"/>
                  </a:lnTo>
                  <a:cubicBezTo>
                    <a:pt x="664522" y="0"/>
                    <a:pt x="715850" y="21261"/>
                    <a:pt x="753695" y="59105"/>
                  </a:cubicBezTo>
                  <a:cubicBezTo>
                    <a:pt x="791539" y="96950"/>
                    <a:pt x="812800" y="148278"/>
                    <a:pt x="812800" y="201799"/>
                  </a:cubicBezTo>
                  <a:lnTo>
                    <a:pt x="812800" y="611001"/>
                  </a:lnTo>
                  <a:cubicBezTo>
                    <a:pt x="812800" y="664522"/>
                    <a:pt x="791539" y="715850"/>
                    <a:pt x="753695" y="753695"/>
                  </a:cubicBezTo>
                  <a:cubicBezTo>
                    <a:pt x="715850" y="791539"/>
                    <a:pt x="664522" y="812800"/>
                    <a:pt x="611001" y="812800"/>
                  </a:cubicBezTo>
                  <a:lnTo>
                    <a:pt x="201799" y="812800"/>
                  </a:lnTo>
                  <a:cubicBezTo>
                    <a:pt x="148278" y="812800"/>
                    <a:pt x="96950" y="791539"/>
                    <a:pt x="59105" y="753695"/>
                  </a:cubicBezTo>
                  <a:cubicBezTo>
                    <a:pt x="21261" y="715850"/>
                    <a:pt x="0" y="664522"/>
                    <a:pt x="0" y="611001"/>
                  </a:cubicBezTo>
                  <a:lnTo>
                    <a:pt x="0" y="201799"/>
                  </a:lnTo>
                  <a:cubicBezTo>
                    <a:pt x="0" y="148278"/>
                    <a:pt x="21261" y="96950"/>
                    <a:pt x="59105" y="59105"/>
                  </a:cubicBezTo>
                  <a:cubicBezTo>
                    <a:pt x="96950" y="21261"/>
                    <a:pt x="148278" y="0"/>
                    <a:pt x="20179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6521F1">
                    <a:alpha val="100000"/>
                  </a:srgbClr>
                </a:gs>
                <a:gs pos="50000">
                  <a:srgbClr val="C437CF">
                    <a:alpha val="100000"/>
                  </a:srgbClr>
                </a:gs>
                <a:gs pos="100000">
                  <a:srgbClr val="FA5F69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7028696" y="3151940"/>
            <a:ext cx="1798019" cy="1798019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03339" y="0"/>
                  </a:moveTo>
                  <a:lnTo>
                    <a:pt x="709461" y="0"/>
                  </a:lnTo>
                  <a:cubicBezTo>
                    <a:pt x="766533" y="0"/>
                    <a:pt x="812800" y="46267"/>
                    <a:pt x="812800" y="103339"/>
                  </a:cubicBezTo>
                  <a:lnTo>
                    <a:pt x="812800" y="709461"/>
                  </a:lnTo>
                  <a:cubicBezTo>
                    <a:pt x="812800" y="766533"/>
                    <a:pt x="766533" y="812800"/>
                    <a:pt x="709461" y="812800"/>
                  </a:cubicBezTo>
                  <a:lnTo>
                    <a:pt x="103339" y="812800"/>
                  </a:lnTo>
                  <a:cubicBezTo>
                    <a:pt x="46267" y="812800"/>
                    <a:pt x="0" y="766533"/>
                    <a:pt x="0" y="709461"/>
                  </a:cubicBezTo>
                  <a:lnTo>
                    <a:pt x="0" y="103339"/>
                  </a:lnTo>
                  <a:cubicBezTo>
                    <a:pt x="0" y="46267"/>
                    <a:pt x="46267" y="0"/>
                    <a:pt x="103339" y="0"/>
                  </a:cubicBezTo>
                  <a:close/>
                </a:path>
              </a:pathLst>
            </a:custGeom>
            <a:solidFill>
              <a:srgbClr val="FAFAFC"/>
            </a:solidFill>
            <a:ln w="28575" cap="rnd">
              <a:solidFill>
                <a:srgbClr val="E6E2F5"/>
              </a:solidFill>
              <a:prstDash val="solid"/>
              <a:round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7443218" y="3593184"/>
            <a:ext cx="394165" cy="394165"/>
            <a:chOff x="0" y="0"/>
            <a:chExt cx="812800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E2EF8">
                    <a:alpha val="100000"/>
                  </a:srgbClr>
                </a:gs>
                <a:gs pos="100000">
                  <a:srgbClr val="EE3BCD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26" id="2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3319" lIns="53319" bIns="53319" rIns="53319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7443218" y="4114550"/>
            <a:ext cx="394165" cy="394165"/>
            <a:chOff x="0" y="0"/>
            <a:chExt cx="812800" cy="812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58FBA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3319" lIns="53319" bIns="53319" rIns="53319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8018028" y="3593184"/>
            <a:ext cx="394165" cy="394165"/>
            <a:chOff x="0" y="0"/>
            <a:chExt cx="812800" cy="8128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E2EF8">
                    <a:alpha val="100000"/>
                  </a:srgbClr>
                </a:gs>
                <a:gs pos="100000">
                  <a:srgbClr val="EE3BCD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32" id="3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3319" lIns="53319" bIns="53319" rIns="53319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8018028" y="4114550"/>
            <a:ext cx="394165" cy="394165"/>
            <a:chOff x="0" y="0"/>
            <a:chExt cx="812800" cy="8128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E2EF8">
                    <a:alpha val="100000"/>
                  </a:srgbClr>
                </a:gs>
                <a:gs pos="100000">
                  <a:srgbClr val="EE3BCD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35" id="3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3319" lIns="53319" bIns="53319" rIns="53319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9723360" y="3151940"/>
            <a:ext cx="1798019" cy="1798019"/>
            <a:chOff x="0" y="0"/>
            <a:chExt cx="812800" cy="8128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03339" y="0"/>
                  </a:moveTo>
                  <a:lnTo>
                    <a:pt x="709461" y="0"/>
                  </a:lnTo>
                  <a:cubicBezTo>
                    <a:pt x="766533" y="0"/>
                    <a:pt x="812800" y="46267"/>
                    <a:pt x="812800" y="103339"/>
                  </a:cubicBezTo>
                  <a:lnTo>
                    <a:pt x="812800" y="709461"/>
                  </a:lnTo>
                  <a:cubicBezTo>
                    <a:pt x="812800" y="766533"/>
                    <a:pt x="766533" y="812800"/>
                    <a:pt x="709461" y="812800"/>
                  </a:cubicBezTo>
                  <a:lnTo>
                    <a:pt x="103339" y="812800"/>
                  </a:lnTo>
                  <a:cubicBezTo>
                    <a:pt x="46267" y="812800"/>
                    <a:pt x="0" y="766533"/>
                    <a:pt x="0" y="709461"/>
                  </a:cubicBezTo>
                  <a:lnTo>
                    <a:pt x="0" y="103339"/>
                  </a:lnTo>
                  <a:cubicBezTo>
                    <a:pt x="0" y="46267"/>
                    <a:pt x="46267" y="0"/>
                    <a:pt x="103339" y="0"/>
                  </a:cubicBezTo>
                  <a:close/>
                </a:path>
              </a:pathLst>
            </a:custGeom>
            <a:solidFill>
              <a:srgbClr val="FAFAFC"/>
            </a:solidFill>
            <a:ln w="28575" cap="rnd">
              <a:solidFill>
                <a:srgbClr val="E6E2F5"/>
              </a:solidFill>
              <a:prstDash val="solid"/>
              <a:round/>
            </a:ln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5112687" y="3151940"/>
            <a:ext cx="1798019" cy="1798019"/>
            <a:chOff x="0" y="0"/>
            <a:chExt cx="812800" cy="8128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103339" y="0"/>
                  </a:moveTo>
                  <a:lnTo>
                    <a:pt x="709461" y="0"/>
                  </a:lnTo>
                  <a:cubicBezTo>
                    <a:pt x="766533" y="0"/>
                    <a:pt x="812800" y="46267"/>
                    <a:pt x="812800" y="103339"/>
                  </a:cubicBezTo>
                  <a:lnTo>
                    <a:pt x="812800" y="709461"/>
                  </a:lnTo>
                  <a:cubicBezTo>
                    <a:pt x="812800" y="766533"/>
                    <a:pt x="766533" y="812800"/>
                    <a:pt x="709461" y="812800"/>
                  </a:cubicBezTo>
                  <a:lnTo>
                    <a:pt x="103339" y="812800"/>
                  </a:lnTo>
                  <a:cubicBezTo>
                    <a:pt x="46267" y="812800"/>
                    <a:pt x="0" y="766533"/>
                    <a:pt x="0" y="709461"/>
                  </a:cubicBezTo>
                  <a:lnTo>
                    <a:pt x="0" y="103339"/>
                  </a:lnTo>
                  <a:cubicBezTo>
                    <a:pt x="0" y="46267"/>
                    <a:pt x="46267" y="0"/>
                    <a:pt x="103339" y="0"/>
                  </a:cubicBezTo>
                  <a:close/>
                </a:path>
              </a:pathLst>
            </a:custGeom>
            <a:solidFill>
              <a:srgbClr val="FAFAFC"/>
            </a:solidFill>
            <a:ln w="28575" cap="rnd">
              <a:solidFill>
                <a:srgbClr val="E6E2F5"/>
              </a:solidFill>
              <a:prstDash val="solid"/>
              <a:round/>
            </a:ln>
          </p:spPr>
        </p:sp>
        <p:sp>
          <p:nvSpPr>
            <p:cNvPr name="TextBox 41" id="41"/>
            <p:cNvSpPr txBox="true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42" id="42"/>
          <p:cNvSpPr/>
          <p:nvPr/>
        </p:nvSpPr>
        <p:spPr>
          <a:xfrm flipH="false" flipV="false" rot="0">
            <a:off x="6136588" y="2946231"/>
            <a:ext cx="11122712" cy="3184645"/>
          </a:xfrm>
          <a:custGeom>
            <a:avLst/>
            <a:gdLst/>
            <a:ahLst/>
            <a:cxnLst/>
            <a:rect r="r" b="b" t="t" l="l"/>
            <a:pathLst>
              <a:path h="3184645" w="11122712">
                <a:moveTo>
                  <a:pt x="0" y="0"/>
                </a:moveTo>
                <a:lnTo>
                  <a:pt x="11122712" y="0"/>
                </a:lnTo>
                <a:lnTo>
                  <a:pt x="11122712" y="3184645"/>
                </a:lnTo>
                <a:lnTo>
                  <a:pt x="0" y="318464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42502" r="-7695" b="-62831"/>
            </a:stretch>
          </a:blipFill>
        </p:spPr>
      </p:sp>
      <p:sp>
        <p:nvSpPr>
          <p:cNvPr name="AutoShape 43" id="43"/>
          <p:cNvSpPr/>
          <p:nvPr/>
        </p:nvSpPr>
        <p:spPr>
          <a:xfrm>
            <a:off x="8878865" y="4058048"/>
            <a:ext cx="649886" cy="0"/>
          </a:xfrm>
          <a:prstGeom prst="line">
            <a:avLst/>
          </a:prstGeom>
          <a:ln cap="flat" w="38100">
            <a:gradFill>
              <a:gsLst>
                <a:gs pos="0">
                  <a:srgbClr val="AE2EF8">
                    <a:alpha val="100000"/>
                  </a:srgbClr>
                </a:gs>
                <a:gs pos="100000">
                  <a:srgbClr val="EE3BCD">
                    <a:alpha val="100000"/>
                  </a:srgbClr>
                </a:gs>
              </a:gsLst>
              <a:lin ang="0"/>
            </a:gradFill>
            <a:prstDash val="sysDot"/>
            <a:headEnd type="none" len="sm" w="sm"/>
            <a:tailEnd type="triangle" len="med" w="lg"/>
          </a:ln>
        </p:spPr>
      </p:sp>
      <p:sp>
        <p:nvSpPr>
          <p:cNvPr name="AutoShape 44" id="44"/>
          <p:cNvSpPr/>
          <p:nvPr/>
        </p:nvSpPr>
        <p:spPr>
          <a:xfrm>
            <a:off x="11697944" y="4050950"/>
            <a:ext cx="649886" cy="0"/>
          </a:xfrm>
          <a:prstGeom prst="line">
            <a:avLst/>
          </a:prstGeom>
          <a:ln cap="flat" w="38100">
            <a:gradFill>
              <a:gsLst>
                <a:gs pos="0">
                  <a:srgbClr val="AE2EF8">
                    <a:alpha val="100000"/>
                  </a:srgbClr>
                </a:gs>
                <a:gs pos="100000">
                  <a:srgbClr val="EE3BCD">
                    <a:alpha val="100000"/>
                  </a:srgbClr>
                </a:gs>
              </a:gsLst>
              <a:lin ang="0"/>
            </a:gradFill>
            <a:prstDash val="sysDot"/>
            <a:headEnd type="none" len="sm" w="sm"/>
            <a:tailEnd type="triangle" len="med" w="lg"/>
          </a:ln>
        </p:spPr>
      </p:sp>
      <p:sp>
        <p:nvSpPr>
          <p:cNvPr name="AutoShape 45" id="45"/>
          <p:cNvSpPr/>
          <p:nvPr/>
        </p:nvSpPr>
        <p:spPr>
          <a:xfrm>
            <a:off x="14462801" y="4058048"/>
            <a:ext cx="649886" cy="0"/>
          </a:xfrm>
          <a:prstGeom prst="line">
            <a:avLst/>
          </a:prstGeom>
          <a:ln cap="flat" w="38100">
            <a:gradFill>
              <a:gsLst>
                <a:gs pos="0">
                  <a:srgbClr val="AE2EF8">
                    <a:alpha val="100000"/>
                  </a:srgbClr>
                </a:gs>
                <a:gs pos="100000">
                  <a:srgbClr val="EE3BCD">
                    <a:alpha val="100000"/>
                  </a:srgbClr>
                </a:gs>
              </a:gsLst>
              <a:lin ang="0"/>
            </a:gradFill>
            <a:prstDash val="sysDot"/>
            <a:headEnd type="none" len="sm" w="sm"/>
            <a:tailEnd type="triangle" len="med" w="lg"/>
          </a:ln>
        </p:spPr>
      </p:sp>
      <p:sp>
        <p:nvSpPr>
          <p:cNvPr name="Freeform 46" id="46"/>
          <p:cNvSpPr/>
          <p:nvPr/>
        </p:nvSpPr>
        <p:spPr>
          <a:xfrm flipH="false" flipV="false" rot="0">
            <a:off x="964023" y="7623008"/>
            <a:ext cx="598781" cy="592793"/>
          </a:xfrm>
          <a:custGeom>
            <a:avLst/>
            <a:gdLst/>
            <a:ahLst/>
            <a:cxnLst/>
            <a:rect r="r" b="b" t="t" l="l"/>
            <a:pathLst>
              <a:path h="592793" w="598781">
                <a:moveTo>
                  <a:pt x="0" y="0"/>
                </a:moveTo>
                <a:lnTo>
                  <a:pt x="598781" y="0"/>
                </a:lnTo>
                <a:lnTo>
                  <a:pt x="598781" y="592793"/>
                </a:lnTo>
                <a:lnTo>
                  <a:pt x="0" y="59279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7" id="47"/>
          <p:cNvSpPr/>
          <p:nvPr/>
        </p:nvSpPr>
        <p:spPr>
          <a:xfrm flipH="false" flipV="false" rot="0">
            <a:off x="6694320" y="7668258"/>
            <a:ext cx="747137" cy="500582"/>
          </a:xfrm>
          <a:custGeom>
            <a:avLst/>
            <a:gdLst/>
            <a:ahLst/>
            <a:cxnLst/>
            <a:rect r="r" b="b" t="t" l="l"/>
            <a:pathLst>
              <a:path h="500582" w="747137">
                <a:moveTo>
                  <a:pt x="0" y="0"/>
                </a:moveTo>
                <a:lnTo>
                  <a:pt x="747136" y="0"/>
                </a:lnTo>
                <a:lnTo>
                  <a:pt x="747136" y="500582"/>
                </a:lnTo>
                <a:lnTo>
                  <a:pt x="0" y="50058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8" id="48"/>
          <p:cNvSpPr/>
          <p:nvPr/>
        </p:nvSpPr>
        <p:spPr>
          <a:xfrm flipH="false" flipV="false" rot="0">
            <a:off x="12605179" y="7601587"/>
            <a:ext cx="534366" cy="614214"/>
          </a:xfrm>
          <a:custGeom>
            <a:avLst/>
            <a:gdLst/>
            <a:ahLst/>
            <a:cxnLst/>
            <a:rect r="r" b="b" t="t" l="l"/>
            <a:pathLst>
              <a:path h="614214" w="534366">
                <a:moveTo>
                  <a:pt x="0" y="0"/>
                </a:moveTo>
                <a:lnTo>
                  <a:pt x="534367" y="0"/>
                </a:lnTo>
                <a:lnTo>
                  <a:pt x="534367" y="614214"/>
                </a:lnTo>
                <a:lnTo>
                  <a:pt x="0" y="61421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9" id="49"/>
          <p:cNvSpPr txBox="true"/>
          <p:nvPr/>
        </p:nvSpPr>
        <p:spPr>
          <a:xfrm rot="0">
            <a:off x="803038" y="4508317"/>
            <a:ext cx="4732281" cy="1776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9"/>
              </a:lnSpc>
              <a:spcBef>
                <a:spcPct val="0"/>
              </a:spcBef>
            </a:pPr>
            <a:r>
              <a:rPr lang="en-US" sz="1699">
                <a:solidFill>
                  <a:srgbClr val="000037"/>
                </a:solidFill>
                <a:latin typeface="Arial"/>
                <a:ea typeface="Arial"/>
                <a:cs typeface="Arial"/>
                <a:sym typeface="Arial"/>
              </a:rPr>
              <a:t>ControlPlane C</a:t>
            </a:r>
            <a:r>
              <a:rPr lang="en-US" sz="1699">
                <a:solidFill>
                  <a:srgbClr val="000037"/>
                </a:solidFill>
                <a:latin typeface="Arial"/>
                <a:ea typeface="Arial"/>
                <a:cs typeface="Arial"/>
                <a:sym typeface="Arial"/>
              </a:rPr>
              <a:t>hecker decouples evaluation from generation. By utilizing an asynchronous, multi agent orchestration layer, we ensure continuous, real-time oversight across all dimensions without introducing system latency.</a:t>
            </a:r>
          </a:p>
          <a:p>
            <a:pPr algn="l">
              <a:lnSpc>
                <a:spcPts val="2379"/>
              </a:lnSpc>
              <a:spcBef>
                <a:spcPct val="0"/>
              </a:spcBef>
            </a:pPr>
          </a:p>
        </p:txBody>
      </p:sp>
      <p:sp>
        <p:nvSpPr>
          <p:cNvPr name="TextBox 50" id="50"/>
          <p:cNvSpPr txBox="true"/>
          <p:nvPr/>
        </p:nvSpPr>
        <p:spPr>
          <a:xfrm rot="0">
            <a:off x="803038" y="3110420"/>
            <a:ext cx="5444457" cy="1004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79"/>
              </a:lnSpc>
              <a:spcBef>
                <a:spcPct val="0"/>
              </a:spcBef>
            </a:pPr>
            <a:r>
              <a:rPr lang="en-US" sz="2842" b="true">
                <a:solidFill>
                  <a:srgbClr val="000037"/>
                </a:solidFill>
                <a:latin typeface="Arial Bold"/>
                <a:ea typeface="Arial Bold"/>
                <a:cs typeface="Arial Bold"/>
                <a:sym typeface="Arial Bold"/>
              </a:rPr>
              <a:t>Asynchronous Evaluation Micro Agents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932681" y="7820344"/>
            <a:ext cx="3943331" cy="1480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9"/>
              </a:lnSpc>
              <a:spcBef>
                <a:spcPct val="0"/>
              </a:spcBef>
            </a:pPr>
            <a:r>
              <a:rPr lang="en-US" sz="1699">
                <a:solidFill>
                  <a:srgbClr val="000037"/>
                </a:solidFill>
                <a:latin typeface="Arial"/>
                <a:ea typeface="Arial"/>
                <a:cs typeface="Arial"/>
                <a:sym typeface="Arial"/>
              </a:rPr>
              <a:t>Combats</a:t>
            </a:r>
            <a:r>
              <a:rPr lang="en-US" sz="1699">
                <a:solidFill>
                  <a:srgbClr val="000037"/>
                </a:solidFill>
                <a:latin typeface="Arial"/>
                <a:ea typeface="Arial"/>
                <a:cs typeface="Arial"/>
                <a:sym typeface="Arial"/>
              </a:rPr>
              <a:t> hallucinations using RAG verification and quantized Cross Encoders to score real-time semantic similarity against grounded enterprise context.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932681" y="7420929"/>
            <a:ext cx="3528189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000037"/>
                </a:solidFill>
                <a:latin typeface="Arial Bold"/>
                <a:ea typeface="Arial Bold"/>
                <a:cs typeface="Arial Bold"/>
                <a:sym typeface="Arial Bold"/>
              </a:rPr>
              <a:t>Performance Agent: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7737156" y="7820344"/>
            <a:ext cx="3583190" cy="2071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9"/>
              </a:lnSpc>
              <a:spcBef>
                <a:spcPct val="0"/>
              </a:spcBef>
            </a:pPr>
            <a:r>
              <a:rPr lang="en-US" sz="1699">
                <a:solidFill>
                  <a:srgbClr val="000037"/>
                </a:solidFill>
                <a:latin typeface="Arial"/>
                <a:ea typeface="Arial"/>
                <a:cs typeface="Arial"/>
                <a:sym typeface="Arial"/>
              </a:rPr>
              <a:t>Monitors active generation loops using stre</a:t>
            </a:r>
            <a:r>
              <a:rPr lang="en-US" sz="1699">
                <a:solidFill>
                  <a:srgbClr val="000037"/>
                </a:solidFill>
                <a:latin typeface="Arial"/>
                <a:ea typeface="Arial"/>
                <a:cs typeface="Arial"/>
                <a:sym typeface="Arial"/>
              </a:rPr>
              <a:t>aming token heuristics to prevent c</a:t>
            </a:r>
            <a:r>
              <a:rPr lang="en-US" sz="1699">
                <a:solidFill>
                  <a:srgbClr val="000037"/>
                </a:solidFill>
                <a:latin typeface="Arial"/>
                <a:ea typeface="Arial"/>
                <a:cs typeface="Arial"/>
                <a:sym typeface="Arial"/>
              </a:rPr>
              <a:t>ompute burn, applying Redis caching and dynamic rate-limiting.</a:t>
            </a:r>
          </a:p>
          <a:p>
            <a:pPr algn="l">
              <a:lnSpc>
                <a:spcPts val="2379"/>
              </a:lnSpc>
              <a:spcBef>
                <a:spcPct val="0"/>
              </a:spcBef>
            </a:pPr>
          </a:p>
          <a:p>
            <a:pPr algn="l">
              <a:lnSpc>
                <a:spcPts val="2379"/>
              </a:lnSpc>
              <a:spcBef>
                <a:spcPct val="0"/>
              </a:spcBef>
            </a:pPr>
          </a:p>
        </p:txBody>
      </p:sp>
      <p:sp>
        <p:nvSpPr>
          <p:cNvPr name="TextBox 54" id="54"/>
          <p:cNvSpPr txBox="true"/>
          <p:nvPr/>
        </p:nvSpPr>
        <p:spPr>
          <a:xfrm rot="0">
            <a:off x="7737156" y="7420929"/>
            <a:ext cx="3528189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000037"/>
                </a:solidFill>
                <a:latin typeface="Arial Bold"/>
                <a:ea typeface="Arial Bold"/>
                <a:cs typeface="Arial Bold"/>
                <a:sym typeface="Arial Bold"/>
              </a:rPr>
              <a:t>Cost Telemetry:</a:t>
            </a:r>
            <a:r>
              <a:rPr lang="en-US" b="true" sz="1999" strike="noStrike" u="none">
                <a:solidFill>
                  <a:srgbClr val="000037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3541630" y="7820344"/>
            <a:ext cx="3503159" cy="1480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9"/>
              </a:lnSpc>
              <a:spcBef>
                <a:spcPct val="0"/>
              </a:spcBef>
            </a:pPr>
            <a:r>
              <a:rPr lang="en-US" sz="1699">
                <a:solidFill>
                  <a:srgbClr val="000037"/>
                </a:solidFill>
                <a:latin typeface="Arial"/>
                <a:ea typeface="Arial"/>
                <a:cs typeface="Arial"/>
                <a:sym typeface="Arial"/>
              </a:rPr>
              <a:t>Deploys ultra-fast NER pipe</a:t>
            </a:r>
            <a:r>
              <a:rPr lang="en-US" sz="1699">
                <a:solidFill>
                  <a:srgbClr val="000037"/>
                </a:solidFill>
                <a:latin typeface="Arial"/>
                <a:ea typeface="Arial"/>
                <a:cs typeface="Arial"/>
                <a:sym typeface="Arial"/>
              </a:rPr>
              <a:t>lines and toxicity classifiers to scan outbound payloads, preventing data leakage and enforcing e</a:t>
            </a:r>
            <a:r>
              <a:rPr lang="en-US" sz="1699">
                <a:solidFill>
                  <a:srgbClr val="000037"/>
                </a:solidFill>
                <a:latin typeface="Arial"/>
                <a:ea typeface="Arial"/>
                <a:cs typeface="Arial"/>
                <a:sym typeface="Arial"/>
              </a:rPr>
              <a:t>nterprise guardrails.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3541630" y="7420929"/>
            <a:ext cx="3528189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000037"/>
                </a:solidFill>
                <a:latin typeface="Arial Bold"/>
                <a:ea typeface="Arial Bold"/>
                <a:cs typeface="Arial Bold"/>
                <a:sym typeface="Arial Bold"/>
              </a:rPr>
              <a:t>Re</a:t>
            </a:r>
            <a:r>
              <a:rPr lang="en-US" b="true" sz="1999" strike="noStrike" u="none">
                <a:solidFill>
                  <a:srgbClr val="000037"/>
                </a:solidFill>
                <a:latin typeface="Arial Bold"/>
                <a:ea typeface="Arial Bold"/>
                <a:cs typeface="Arial Bold"/>
                <a:sym typeface="Arial Bold"/>
              </a:rPr>
              <a:t>s</a:t>
            </a:r>
            <a:r>
              <a:rPr lang="en-US" b="true" sz="1999" strike="noStrike" u="none">
                <a:solidFill>
                  <a:srgbClr val="000037"/>
                </a:solidFill>
                <a:latin typeface="Arial Bold"/>
                <a:ea typeface="Arial Bold"/>
                <a:cs typeface="Arial Bold"/>
                <a:sym typeface="Arial Bold"/>
              </a:rPr>
              <a:t>pon</a:t>
            </a:r>
            <a:r>
              <a:rPr lang="en-US" b="true" sz="1999" strike="noStrike" u="none">
                <a:solidFill>
                  <a:srgbClr val="000037"/>
                </a:solidFill>
                <a:latin typeface="Arial Bold"/>
                <a:ea typeface="Arial Bold"/>
                <a:cs typeface="Arial Bold"/>
                <a:sym typeface="Arial Bold"/>
              </a:rPr>
              <a:t>s</a:t>
            </a:r>
            <a:r>
              <a:rPr lang="en-US" b="true" sz="1999" strike="noStrike" u="none">
                <a:solidFill>
                  <a:srgbClr val="000037"/>
                </a:solidFill>
                <a:latin typeface="Arial Bold"/>
                <a:ea typeface="Arial Bold"/>
                <a:cs typeface="Arial Bold"/>
                <a:sym typeface="Arial Bold"/>
              </a:rPr>
              <a:t>ibili</a:t>
            </a:r>
            <a:r>
              <a:rPr lang="en-US" b="true" sz="1999" strike="noStrike" u="none">
                <a:solidFill>
                  <a:srgbClr val="000037"/>
                </a:solidFill>
                <a:latin typeface="Arial Bold"/>
                <a:ea typeface="Arial Bold"/>
                <a:cs typeface="Arial Bold"/>
                <a:sym typeface="Arial Bold"/>
              </a:rPr>
              <a:t>t</a:t>
            </a:r>
            <a:r>
              <a:rPr lang="en-US" b="true" sz="1999" strike="noStrike" u="none">
                <a:solidFill>
                  <a:srgbClr val="000037"/>
                </a:solidFill>
                <a:latin typeface="Arial Bold"/>
                <a:ea typeface="Arial Bold"/>
                <a:cs typeface="Arial Bold"/>
                <a:sym typeface="Arial Bold"/>
              </a:rPr>
              <a:t>y Layer: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6909319" y="2544538"/>
            <a:ext cx="1856128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000037"/>
                </a:solidFill>
                <a:latin typeface="Arial Bold"/>
                <a:ea typeface="Arial Bold"/>
                <a:cs typeface="Arial Bold"/>
                <a:sym typeface="Arial Bold"/>
              </a:rPr>
              <a:t>Found</a:t>
            </a:r>
            <a:r>
              <a:rPr lang="en-US" b="true" sz="1999" strike="noStrike" u="none">
                <a:solidFill>
                  <a:srgbClr val="000037"/>
                </a:solidFill>
                <a:latin typeface="Arial Bold"/>
                <a:ea typeface="Arial Bold"/>
                <a:cs typeface="Arial Bold"/>
                <a:sym typeface="Arial Bold"/>
              </a:rPr>
              <a:t>at</a:t>
            </a:r>
            <a:r>
              <a:rPr lang="en-US" b="true" sz="1999" strike="noStrike" u="none">
                <a:solidFill>
                  <a:srgbClr val="000037"/>
                </a:solidFill>
                <a:latin typeface="Arial Bold"/>
                <a:ea typeface="Arial Bold"/>
                <a:cs typeface="Arial Bold"/>
                <a:sym typeface="Arial Bold"/>
              </a:rPr>
              <a:t>ion</a:t>
            </a:r>
            <a:r>
              <a:rPr lang="en-US" b="true" sz="1999" strike="noStrike" u="none">
                <a:solidFill>
                  <a:srgbClr val="000037"/>
                </a:solidFill>
                <a:latin typeface="Arial Bold"/>
                <a:ea typeface="Arial Bold"/>
                <a:cs typeface="Arial Bold"/>
                <a:sym typeface="Arial Bold"/>
              </a:rPr>
              <a:t>s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9723360" y="2534816"/>
            <a:ext cx="1856128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000037"/>
                </a:solidFill>
                <a:latin typeface="Arial Bold"/>
                <a:ea typeface="Arial Bold"/>
                <a:cs typeface="Arial Bold"/>
                <a:sym typeface="Arial Bold"/>
              </a:rPr>
              <a:t>Perfromance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12468525" y="2534816"/>
            <a:ext cx="1856128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000037"/>
                </a:solidFill>
                <a:latin typeface="Arial Bold"/>
                <a:ea typeface="Arial Bold"/>
                <a:cs typeface="Arial Bold"/>
                <a:sym typeface="Arial Bold"/>
              </a:rPr>
              <a:t>Cost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15213691" y="2534816"/>
            <a:ext cx="1856128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000037"/>
                </a:solidFill>
                <a:latin typeface="Arial Bold"/>
                <a:ea typeface="Arial Bold"/>
                <a:cs typeface="Arial Bold"/>
                <a:sym typeface="Arial Bold"/>
              </a:rPr>
              <a:t>Responsibility</a:t>
            </a:r>
          </a:p>
        </p:txBody>
      </p:sp>
      <p:sp>
        <p:nvSpPr>
          <p:cNvPr name="Freeform 61" id="61"/>
          <p:cNvSpPr/>
          <p:nvPr/>
        </p:nvSpPr>
        <p:spPr>
          <a:xfrm flipH="false" flipV="false" rot="0">
            <a:off x="803038" y="506774"/>
            <a:ext cx="342324" cy="342324"/>
          </a:xfrm>
          <a:custGeom>
            <a:avLst/>
            <a:gdLst/>
            <a:ahLst/>
            <a:cxnLst/>
            <a:rect r="r" b="b" t="t" l="l"/>
            <a:pathLst>
              <a:path h="342324" w="342324">
                <a:moveTo>
                  <a:pt x="0" y="0"/>
                </a:moveTo>
                <a:lnTo>
                  <a:pt x="342324" y="0"/>
                </a:lnTo>
                <a:lnTo>
                  <a:pt x="342324" y="342324"/>
                </a:lnTo>
                <a:lnTo>
                  <a:pt x="0" y="34232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62" id="62"/>
          <p:cNvSpPr txBox="true"/>
          <p:nvPr/>
        </p:nvSpPr>
        <p:spPr>
          <a:xfrm rot="0">
            <a:off x="1300910" y="487753"/>
            <a:ext cx="2216190" cy="332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 b="true">
                <a:solidFill>
                  <a:srgbClr val="000037"/>
                </a:solidFill>
                <a:latin typeface="Arial Bold"/>
                <a:ea typeface="Arial Bold"/>
                <a:cs typeface="Arial Bold"/>
                <a:sym typeface="Arial Bold"/>
              </a:rPr>
              <a:t>ControlPlane.ai</a:t>
            </a:r>
          </a:p>
        </p:txBody>
      </p:sp>
      <p:grpSp>
        <p:nvGrpSpPr>
          <p:cNvPr name="Group 63" id="63"/>
          <p:cNvGrpSpPr/>
          <p:nvPr/>
        </p:nvGrpSpPr>
        <p:grpSpPr>
          <a:xfrm rot="0">
            <a:off x="17115282" y="545603"/>
            <a:ext cx="288036" cy="303495"/>
            <a:chOff x="0" y="0"/>
            <a:chExt cx="384048" cy="404660"/>
          </a:xfrm>
        </p:grpSpPr>
        <p:sp>
          <p:nvSpPr>
            <p:cNvPr name="Freeform 64" id="64" descr="A picture containing drawing, clock  Description automatically generated"/>
            <p:cNvSpPr/>
            <p:nvPr/>
          </p:nvSpPr>
          <p:spPr>
            <a:xfrm flipH="false" flipV="false" rot="0">
              <a:off x="0" y="0"/>
              <a:ext cx="384048" cy="404622"/>
            </a:xfrm>
            <a:custGeom>
              <a:avLst/>
              <a:gdLst/>
              <a:ahLst/>
              <a:cxnLst/>
              <a:rect r="r" b="b" t="t" l="l"/>
              <a:pathLst>
                <a:path h="404622" w="384048">
                  <a:moveTo>
                    <a:pt x="0" y="0"/>
                  </a:moveTo>
                  <a:lnTo>
                    <a:pt x="384048" y="0"/>
                  </a:lnTo>
                  <a:lnTo>
                    <a:pt x="384048" y="404622"/>
                  </a:lnTo>
                  <a:lnTo>
                    <a:pt x="0" y="4046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-175" t="0" r="-171" b="-9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803038" y="1019175"/>
            <a:ext cx="16681923" cy="0"/>
          </a:xfrm>
          <a:prstGeom prst="line">
            <a:avLst/>
          </a:prstGeom>
          <a:ln cap="flat" w="28575">
            <a:gradFill>
              <a:gsLst>
                <a:gs pos="0">
                  <a:srgbClr val="6521F1">
                    <a:alpha val="100000"/>
                  </a:srgbClr>
                </a:gs>
                <a:gs pos="50000">
                  <a:srgbClr val="C437CF">
                    <a:alpha val="100000"/>
                  </a:srgbClr>
                </a:gs>
                <a:gs pos="100000">
                  <a:srgbClr val="FA5F69">
                    <a:alpha val="100000"/>
                  </a:srgbClr>
                </a:gs>
              </a:gsLst>
              <a:lin ang="270000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1210056" y="4892978"/>
            <a:ext cx="15867887" cy="0"/>
          </a:xfrm>
          <a:prstGeom prst="line">
            <a:avLst/>
          </a:prstGeom>
          <a:ln cap="flat" w="47625">
            <a:gradFill>
              <a:gsLst>
                <a:gs pos="0">
                  <a:srgbClr val="6521F1">
                    <a:alpha val="100000"/>
                  </a:srgbClr>
                </a:gs>
                <a:gs pos="50000">
                  <a:srgbClr val="C437CF">
                    <a:alpha val="100000"/>
                  </a:srgbClr>
                </a:gs>
                <a:gs pos="100000">
                  <a:srgbClr val="FA5F69">
                    <a:alpha val="100000"/>
                  </a:srgbClr>
                </a:gs>
              </a:gsLst>
              <a:lin ang="2700000"/>
            </a:gradFill>
            <a:prstDash val="solid"/>
            <a:headEnd type="oval" len="lg" w="lg"/>
            <a:tailEnd type="oval" len="lg" w="lg"/>
          </a:ln>
        </p:spPr>
      </p:sp>
      <p:sp>
        <p:nvSpPr>
          <p:cNvPr name="AutoShape 4" id="4"/>
          <p:cNvSpPr/>
          <p:nvPr/>
        </p:nvSpPr>
        <p:spPr>
          <a:xfrm>
            <a:off x="5670251" y="5890464"/>
            <a:ext cx="0" cy="2386763"/>
          </a:xfrm>
          <a:prstGeom prst="line">
            <a:avLst/>
          </a:prstGeom>
          <a:ln cap="flat" w="28575">
            <a:solidFill>
              <a:srgbClr val="E6E2F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2710487" y="4404440"/>
            <a:ext cx="971801" cy="971801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AFAFC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5600368" y="4799812"/>
            <a:ext cx="181056" cy="181056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235D4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899894" y="4404440"/>
            <a:ext cx="971801" cy="971801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AFAFC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1853746" y="5029518"/>
            <a:ext cx="8529366" cy="8644621"/>
          </a:xfrm>
          <a:custGeom>
            <a:avLst/>
            <a:gdLst/>
            <a:ahLst/>
            <a:cxnLst/>
            <a:rect r="r" b="b" t="t" l="l"/>
            <a:pathLst>
              <a:path h="8644621" w="8529366">
                <a:moveTo>
                  <a:pt x="0" y="0"/>
                </a:moveTo>
                <a:lnTo>
                  <a:pt x="8529366" y="0"/>
                </a:lnTo>
                <a:lnTo>
                  <a:pt x="8529366" y="8644621"/>
                </a:lnTo>
                <a:lnTo>
                  <a:pt x="0" y="86446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4000"/>
            </a:blip>
            <a:stretch>
              <a:fillRect l="-168" t="0" r="-168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14339426" y="4404440"/>
            <a:ext cx="971801" cy="971801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AFAFC"/>
            </a:solidFill>
            <a:ln cap="sq">
              <a:noFill/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1763218" y="4799812"/>
            <a:ext cx="181056" cy="181056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E41B9"/>
            </a:solidFill>
            <a:ln cap="sq">
              <a:noFill/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535431" y="5886134"/>
            <a:ext cx="3321912" cy="2848706"/>
            <a:chOff x="0" y="0"/>
            <a:chExt cx="4429216" cy="3798275"/>
          </a:xfrm>
        </p:grpSpPr>
        <p:sp>
          <p:nvSpPr>
            <p:cNvPr name="AutoShape 22" id="22"/>
            <p:cNvSpPr/>
            <p:nvPr/>
          </p:nvSpPr>
          <p:spPr>
            <a:xfrm>
              <a:off x="0" y="1401784"/>
              <a:ext cx="3928039" cy="0"/>
            </a:xfrm>
            <a:prstGeom prst="line">
              <a:avLst/>
            </a:prstGeom>
            <a:ln cap="flat" w="63500">
              <a:gradFill>
                <a:gsLst>
                  <a:gs pos="0">
                    <a:srgbClr val="6521F1">
                      <a:alpha val="100000"/>
                    </a:srgbClr>
                  </a:gs>
                  <a:gs pos="50000">
                    <a:srgbClr val="C437CF">
                      <a:alpha val="100000"/>
                    </a:srgbClr>
                  </a:gs>
                  <a:gs pos="100000">
                    <a:srgbClr val="FA5F69">
                      <a:alpha val="100000"/>
                    </a:srgbClr>
                  </a:gs>
                </a:gsLst>
                <a:lin ang="2700000"/>
              </a:gra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23" id="23"/>
            <p:cNvSpPr txBox="true"/>
            <p:nvPr/>
          </p:nvSpPr>
          <p:spPr>
            <a:xfrm rot="0">
              <a:off x="0" y="1706584"/>
              <a:ext cx="4050184" cy="20916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19"/>
                </a:lnSpc>
                <a:spcBef>
                  <a:spcPct val="0"/>
                </a:spcBef>
              </a:pPr>
              <a:r>
                <a:rPr lang="en-US" sz="1799">
                  <a:solidFill>
                    <a:srgbClr val="000037"/>
                  </a:solidFill>
                  <a:latin typeface="Arial"/>
                  <a:ea typeface="Arial"/>
                  <a:cs typeface="Arial"/>
                  <a:sym typeface="Arial"/>
                </a:rPr>
                <a:t>S</a:t>
              </a:r>
              <a:r>
                <a:rPr lang="en-US" sz="1799">
                  <a:solidFill>
                    <a:srgbClr val="000037"/>
                  </a:solidFill>
                  <a:latin typeface="Arial"/>
                  <a:ea typeface="Arial"/>
                  <a:cs typeface="Arial"/>
                  <a:sym typeface="Arial"/>
                </a:rPr>
                <a:t>tream proceeds uninterrupted. Asynchronous background evaluation yields &lt;50ms TTFT (Time To First Token) overhead.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0" y="-114300"/>
              <a:ext cx="1229541" cy="10493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6495"/>
                </a:lnSpc>
                <a:spcBef>
                  <a:spcPct val="0"/>
                </a:spcBef>
              </a:pPr>
              <a:r>
                <a:rPr lang="en-US" b="true" sz="4639">
                  <a:gradFill>
                    <a:gsLst>
                      <a:gs pos="0">
                        <a:srgbClr val="6521F1">
                          <a:alpha val="100000"/>
                        </a:srgbClr>
                      </a:gs>
                      <a:gs pos="50000">
                        <a:srgbClr val="C437CF">
                          <a:alpha val="100000"/>
                        </a:srgbClr>
                      </a:gs>
                      <a:gs pos="100000">
                        <a:srgbClr val="FA5F69">
                          <a:alpha val="100000"/>
                        </a:srgbClr>
                      </a:gs>
                    </a:gsLst>
                    <a:lin ang="2700000"/>
                  </a:gradFill>
                  <a:latin typeface="Arial Bold"/>
                  <a:ea typeface="Arial Bold"/>
                  <a:cs typeface="Arial Bold"/>
                  <a:sym typeface="Arial Bold"/>
                </a:rPr>
                <a:t>01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0" y="831131"/>
              <a:ext cx="4429216" cy="4813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39"/>
                </a:lnSpc>
                <a:spcBef>
                  <a:spcPct val="0"/>
                </a:spcBef>
              </a:pPr>
              <a:r>
                <a:rPr lang="en-US" b="true" sz="2099">
                  <a:solidFill>
                    <a:srgbClr val="000037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Pass-Through (Low Risk)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7067145" y="5890464"/>
            <a:ext cx="3609099" cy="2848706"/>
            <a:chOff x="0" y="0"/>
            <a:chExt cx="4812132" cy="3798275"/>
          </a:xfrm>
        </p:grpSpPr>
        <p:sp>
          <p:nvSpPr>
            <p:cNvPr name="AutoShape 27" id="27"/>
            <p:cNvSpPr/>
            <p:nvPr/>
          </p:nvSpPr>
          <p:spPr>
            <a:xfrm flipV="true">
              <a:off x="0" y="1401784"/>
              <a:ext cx="4196353" cy="0"/>
            </a:xfrm>
            <a:prstGeom prst="line">
              <a:avLst/>
            </a:prstGeom>
            <a:ln cap="flat" w="63500">
              <a:gradFill>
                <a:gsLst>
                  <a:gs pos="0">
                    <a:srgbClr val="6521F1">
                      <a:alpha val="100000"/>
                    </a:srgbClr>
                  </a:gs>
                  <a:gs pos="50000">
                    <a:srgbClr val="C437CF">
                      <a:alpha val="100000"/>
                    </a:srgbClr>
                  </a:gs>
                  <a:gs pos="100000">
                    <a:srgbClr val="FA5F69">
                      <a:alpha val="100000"/>
                    </a:srgbClr>
                  </a:gs>
                </a:gsLst>
                <a:lin ang="2700000"/>
              </a:gra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28" id="28"/>
            <p:cNvSpPr txBox="true"/>
            <p:nvPr/>
          </p:nvSpPr>
          <p:spPr>
            <a:xfrm rot="0">
              <a:off x="0" y="1706584"/>
              <a:ext cx="4812132" cy="20916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19"/>
                </a:lnSpc>
                <a:spcBef>
                  <a:spcPct val="0"/>
                </a:spcBef>
              </a:pPr>
              <a:r>
                <a:rPr lang="en-US" sz="1799">
                  <a:solidFill>
                    <a:srgbClr val="000037"/>
                  </a:solidFill>
                  <a:latin typeface="Poppins"/>
                  <a:ea typeface="Poppins"/>
                  <a:cs typeface="Poppins"/>
                  <a:sym typeface="Poppins"/>
                </a:rPr>
                <a:t>If PII is detected mid-stream,</a:t>
              </a:r>
              <a:r>
                <a:rPr lang="en-US" sz="1799">
                  <a:solidFill>
                    <a:srgbClr val="000037"/>
                  </a:solidFill>
                  <a:latin typeface="Poppins"/>
                  <a:ea typeface="Poppins"/>
                  <a:cs typeface="Poppins"/>
                  <a:sym typeface="Poppins"/>
                </a:rPr>
                <a:t> a lightweight Regex/NER</a:t>
              </a:r>
              <a:r>
                <a:rPr lang="en-US" sz="1799">
                  <a:solidFill>
                    <a:srgbClr val="000037"/>
                  </a:solidFill>
                  <a:latin typeface="Poppins"/>
                  <a:ea typeface="Poppins"/>
                  <a:cs typeface="Poppins"/>
                  <a:sym typeface="Poppins"/>
                </a:rPr>
                <a:t> mask applies inline replacement () before flushing the buffer to the client.</a:t>
              </a:r>
            </a:p>
          </p:txBody>
        </p:sp>
        <p:sp>
          <p:nvSpPr>
            <p:cNvPr name="TextBox 29" id="29"/>
            <p:cNvSpPr txBox="true"/>
            <p:nvPr/>
          </p:nvSpPr>
          <p:spPr>
            <a:xfrm rot="0">
              <a:off x="0" y="-133350"/>
              <a:ext cx="1229541" cy="11019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6682"/>
                </a:lnSpc>
                <a:spcBef>
                  <a:spcPct val="0"/>
                </a:spcBef>
              </a:pPr>
              <a:r>
                <a:rPr lang="en-US" b="true" sz="4773">
                  <a:gradFill>
                    <a:gsLst>
                      <a:gs pos="0">
                        <a:srgbClr val="6521F1">
                          <a:alpha val="100000"/>
                        </a:srgbClr>
                      </a:gs>
                      <a:gs pos="50000">
                        <a:srgbClr val="C437CF">
                          <a:alpha val="100000"/>
                        </a:srgbClr>
                      </a:gs>
                      <a:gs pos="100000">
                        <a:srgbClr val="FA5F69">
                          <a:alpha val="100000"/>
                        </a:srgbClr>
                      </a:gs>
                    </a:gsLst>
                    <a:lin ang="2700000"/>
                  </a:gradFill>
                  <a:latin typeface="Poppins Semi-Bold"/>
                  <a:ea typeface="Poppins Semi-Bold"/>
                  <a:cs typeface="Poppins Semi-Bold"/>
                  <a:sym typeface="Poppins Semi-Bold"/>
                </a:rPr>
                <a:t>02</a:t>
              </a:r>
            </a:p>
          </p:txBody>
        </p:sp>
        <p:sp>
          <p:nvSpPr>
            <p:cNvPr name="TextBox 30" id="30"/>
            <p:cNvSpPr txBox="true"/>
            <p:nvPr/>
          </p:nvSpPr>
          <p:spPr>
            <a:xfrm rot="0">
              <a:off x="0" y="780331"/>
              <a:ext cx="4812132" cy="4813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39"/>
                </a:lnSpc>
                <a:spcBef>
                  <a:spcPct val="0"/>
                </a:spcBef>
              </a:pPr>
              <a:r>
                <a:rPr lang="en-US" b="true" sz="2099">
                  <a:solidFill>
                    <a:srgbClr val="000037"/>
                  </a:solidFill>
                  <a:latin typeface="Poppins Semi-Bold"/>
                  <a:ea typeface="Poppins Semi-Bold"/>
                  <a:cs typeface="Poppins Semi-Bold"/>
                  <a:sym typeface="Poppins Semi-Bold"/>
                </a:rPr>
                <a:t>Auto-Edit (Medium Risk)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3063421" y="5886134"/>
            <a:ext cx="3896147" cy="3163031"/>
            <a:chOff x="0" y="0"/>
            <a:chExt cx="5194862" cy="4217375"/>
          </a:xfrm>
        </p:grpSpPr>
        <p:sp>
          <p:nvSpPr>
            <p:cNvPr name="AutoShape 32" id="32"/>
            <p:cNvSpPr/>
            <p:nvPr/>
          </p:nvSpPr>
          <p:spPr>
            <a:xfrm>
              <a:off x="0" y="1401784"/>
              <a:ext cx="4693489" cy="0"/>
            </a:xfrm>
            <a:prstGeom prst="line">
              <a:avLst/>
            </a:prstGeom>
            <a:ln cap="flat" w="63500">
              <a:gradFill>
                <a:gsLst>
                  <a:gs pos="0">
                    <a:srgbClr val="6521F1">
                      <a:alpha val="100000"/>
                    </a:srgbClr>
                  </a:gs>
                  <a:gs pos="50000">
                    <a:srgbClr val="C437CF">
                      <a:alpha val="100000"/>
                    </a:srgbClr>
                  </a:gs>
                  <a:gs pos="100000">
                    <a:srgbClr val="FA5F69">
                      <a:alpha val="100000"/>
                    </a:srgbClr>
                  </a:gs>
                </a:gsLst>
                <a:lin ang="2700000"/>
              </a:gra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33" id="33"/>
            <p:cNvSpPr txBox="true"/>
            <p:nvPr/>
          </p:nvSpPr>
          <p:spPr>
            <a:xfrm rot="0">
              <a:off x="0" y="1706584"/>
              <a:ext cx="5194862" cy="25107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19"/>
                </a:lnSpc>
                <a:spcBef>
                  <a:spcPct val="0"/>
                </a:spcBef>
              </a:pPr>
              <a:r>
                <a:rPr lang="en-US" sz="1799">
                  <a:solidFill>
                    <a:srgbClr val="000037"/>
                  </a:solidFill>
                  <a:latin typeface="Poppins"/>
                  <a:ea typeface="Poppins"/>
                  <a:cs typeface="Poppins"/>
                  <a:sym typeface="Poppins"/>
                </a:rPr>
                <a:t>For severe toxi</a:t>
              </a:r>
              <a:r>
                <a:rPr lang="en-US" sz="1799">
                  <a:solidFill>
                    <a:srgbClr val="000037"/>
                  </a:solidFill>
                  <a:latin typeface="Poppins"/>
                  <a:ea typeface="Poppins"/>
                  <a:cs typeface="Poppins"/>
                  <a:sym typeface="Poppins"/>
                </a:rPr>
                <a:t>city or massiv</a:t>
              </a:r>
              <a:r>
                <a:rPr lang="en-US" sz="1799">
                  <a:solidFill>
                    <a:srgbClr val="000037"/>
                  </a:solidFill>
                  <a:latin typeface="Poppins"/>
                  <a:ea typeface="Poppins"/>
                  <a:cs typeface="Poppins"/>
                  <a:sym typeface="Poppins"/>
                </a:rPr>
                <a:t>e context hallucination, the proxy forcibly tears down the TCP/WebSocket connection and fires a webhook to the HITL dashboard.</a:t>
              </a:r>
            </a:p>
          </p:txBody>
        </p:sp>
        <p:sp>
          <p:nvSpPr>
            <p:cNvPr name="TextBox 34" id="34"/>
            <p:cNvSpPr txBox="true"/>
            <p:nvPr/>
          </p:nvSpPr>
          <p:spPr>
            <a:xfrm rot="0">
              <a:off x="0" y="-133350"/>
              <a:ext cx="1229541" cy="11019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6682"/>
                </a:lnSpc>
                <a:spcBef>
                  <a:spcPct val="0"/>
                </a:spcBef>
              </a:pPr>
              <a:r>
                <a:rPr lang="en-US" b="true" sz="4773">
                  <a:gradFill>
                    <a:gsLst>
                      <a:gs pos="0">
                        <a:srgbClr val="6521F1">
                          <a:alpha val="100000"/>
                        </a:srgbClr>
                      </a:gs>
                      <a:gs pos="50000">
                        <a:srgbClr val="C437CF">
                          <a:alpha val="100000"/>
                        </a:srgbClr>
                      </a:gs>
                      <a:gs pos="100000">
                        <a:srgbClr val="FA5F69">
                          <a:alpha val="100000"/>
                        </a:srgbClr>
                      </a:gs>
                    </a:gsLst>
                    <a:lin ang="2700000"/>
                  </a:gradFill>
                  <a:latin typeface="Poppins Semi-Bold"/>
                  <a:ea typeface="Poppins Semi-Bold"/>
                  <a:cs typeface="Poppins Semi-Bold"/>
                  <a:sym typeface="Poppins Semi-Bold"/>
                </a:rPr>
                <a:t>03</a:t>
              </a:r>
            </a:p>
          </p:txBody>
        </p:sp>
        <p:sp>
          <p:nvSpPr>
            <p:cNvPr name="TextBox 35" id="35"/>
            <p:cNvSpPr txBox="true"/>
            <p:nvPr/>
          </p:nvSpPr>
          <p:spPr>
            <a:xfrm rot="0">
              <a:off x="0" y="780331"/>
              <a:ext cx="5194862" cy="4813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39"/>
                </a:lnSpc>
                <a:spcBef>
                  <a:spcPct val="0"/>
                </a:spcBef>
              </a:pPr>
              <a:r>
                <a:rPr lang="en-US" b="true" sz="2099">
                  <a:solidFill>
                    <a:srgbClr val="000037"/>
                  </a:solidFill>
                  <a:latin typeface="Poppins Semi-Bold"/>
                  <a:ea typeface="Poppins Semi-Bold"/>
                  <a:cs typeface="Poppins Semi-Bold"/>
                  <a:sym typeface="Poppins Semi-Bold"/>
                </a:rPr>
                <a:t>Block &amp; Escalate (High Risk)</a:t>
              </a:r>
            </a:p>
          </p:txBody>
        </p:sp>
      </p:grpSp>
      <p:sp>
        <p:nvSpPr>
          <p:cNvPr name="AutoShape 36" id="36"/>
          <p:cNvSpPr/>
          <p:nvPr/>
        </p:nvSpPr>
        <p:spPr>
          <a:xfrm>
            <a:off x="11868033" y="6024395"/>
            <a:ext cx="0" cy="2386763"/>
          </a:xfrm>
          <a:prstGeom prst="line">
            <a:avLst/>
          </a:prstGeom>
          <a:ln cap="flat" w="28575">
            <a:solidFill>
              <a:srgbClr val="E6E2F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7" id="37"/>
          <p:cNvSpPr/>
          <p:nvPr/>
        </p:nvSpPr>
        <p:spPr>
          <a:xfrm>
            <a:off x="803038" y="9747394"/>
            <a:ext cx="16681923" cy="0"/>
          </a:xfrm>
          <a:prstGeom prst="line">
            <a:avLst/>
          </a:prstGeom>
          <a:ln cap="flat" w="28575">
            <a:gradFill>
              <a:gsLst>
                <a:gs pos="0">
                  <a:srgbClr val="6521F1">
                    <a:alpha val="100000"/>
                  </a:srgbClr>
                </a:gs>
                <a:gs pos="50000">
                  <a:srgbClr val="C437CF">
                    <a:alpha val="100000"/>
                  </a:srgbClr>
                </a:gs>
                <a:gs pos="100000">
                  <a:srgbClr val="FA5F69">
                    <a:alpha val="100000"/>
                  </a:srgbClr>
                </a:gs>
              </a:gsLst>
              <a:lin ang="270000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Freeform 38" id="38"/>
          <p:cNvSpPr/>
          <p:nvPr/>
        </p:nvSpPr>
        <p:spPr>
          <a:xfrm flipH="false" flipV="false" rot="-5400000">
            <a:off x="16951514" y="9569305"/>
            <a:ext cx="186550" cy="933252"/>
          </a:xfrm>
          <a:custGeom>
            <a:avLst/>
            <a:gdLst/>
            <a:ahLst/>
            <a:cxnLst/>
            <a:rect r="r" b="b" t="t" l="l"/>
            <a:pathLst>
              <a:path h="933252" w="186550">
                <a:moveTo>
                  <a:pt x="0" y="0"/>
                </a:moveTo>
                <a:lnTo>
                  <a:pt x="186550" y="0"/>
                </a:lnTo>
                <a:lnTo>
                  <a:pt x="186550" y="933252"/>
                </a:lnTo>
                <a:lnTo>
                  <a:pt x="0" y="93325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-146966" b="-27809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0">
            <a:off x="803038" y="506774"/>
            <a:ext cx="342324" cy="342324"/>
          </a:xfrm>
          <a:custGeom>
            <a:avLst/>
            <a:gdLst/>
            <a:ahLst/>
            <a:cxnLst/>
            <a:rect r="r" b="b" t="t" l="l"/>
            <a:pathLst>
              <a:path h="342324" w="342324">
                <a:moveTo>
                  <a:pt x="0" y="0"/>
                </a:moveTo>
                <a:lnTo>
                  <a:pt x="342324" y="0"/>
                </a:lnTo>
                <a:lnTo>
                  <a:pt x="342324" y="342324"/>
                </a:lnTo>
                <a:lnTo>
                  <a:pt x="0" y="34232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0" id="40"/>
          <p:cNvSpPr/>
          <p:nvPr/>
        </p:nvSpPr>
        <p:spPr>
          <a:xfrm flipH="false" flipV="false" rot="0">
            <a:off x="2710487" y="4404440"/>
            <a:ext cx="971801" cy="971801"/>
          </a:xfrm>
          <a:custGeom>
            <a:avLst/>
            <a:gdLst/>
            <a:ahLst/>
            <a:cxnLst/>
            <a:rect r="r" b="b" t="t" l="l"/>
            <a:pathLst>
              <a:path h="971801" w="971801">
                <a:moveTo>
                  <a:pt x="0" y="0"/>
                </a:moveTo>
                <a:lnTo>
                  <a:pt x="971800" y="0"/>
                </a:lnTo>
                <a:lnTo>
                  <a:pt x="971800" y="971801"/>
                </a:lnTo>
                <a:lnTo>
                  <a:pt x="0" y="97180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41" id="41"/>
          <p:cNvSpPr/>
          <p:nvPr/>
        </p:nvSpPr>
        <p:spPr>
          <a:xfrm flipH="false" flipV="false" rot="0">
            <a:off x="7899894" y="4407078"/>
            <a:ext cx="971801" cy="971801"/>
          </a:xfrm>
          <a:custGeom>
            <a:avLst/>
            <a:gdLst/>
            <a:ahLst/>
            <a:cxnLst/>
            <a:rect r="r" b="b" t="t" l="l"/>
            <a:pathLst>
              <a:path h="971801" w="971801">
                <a:moveTo>
                  <a:pt x="0" y="0"/>
                </a:moveTo>
                <a:lnTo>
                  <a:pt x="971801" y="0"/>
                </a:lnTo>
                <a:lnTo>
                  <a:pt x="971801" y="971800"/>
                </a:lnTo>
                <a:lnTo>
                  <a:pt x="0" y="971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2" id="42"/>
          <p:cNvGrpSpPr/>
          <p:nvPr/>
        </p:nvGrpSpPr>
        <p:grpSpPr>
          <a:xfrm rot="0">
            <a:off x="17115282" y="545603"/>
            <a:ext cx="288036" cy="303495"/>
            <a:chOff x="0" y="0"/>
            <a:chExt cx="384048" cy="404660"/>
          </a:xfrm>
        </p:grpSpPr>
        <p:sp>
          <p:nvSpPr>
            <p:cNvPr name="Freeform 43" id="43" descr="A picture containing drawing, clock  Description automatically generated"/>
            <p:cNvSpPr/>
            <p:nvPr/>
          </p:nvSpPr>
          <p:spPr>
            <a:xfrm flipH="false" flipV="false" rot="0">
              <a:off x="0" y="0"/>
              <a:ext cx="384048" cy="404622"/>
            </a:xfrm>
            <a:custGeom>
              <a:avLst/>
              <a:gdLst/>
              <a:ahLst/>
              <a:cxnLst/>
              <a:rect r="r" b="b" t="t" l="l"/>
              <a:pathLst>
                <a:path h="404622" w="384048">
                  <a:moveTo>
                    <a:pt x="0" y="0"/>
                  </a:moveTo>
                  <a:lnTo>
                    <a:pt x="384048" y="0"/>
                  </a:lnTo>
                  <a:lnTo>
                    <a:pt x="384048" y="404622"/>
                  </a:lnTo>
                  <a:lnTo>
                    <a:pt x="0" y="4046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-175" t="0" r="-171" b="-9"/>
              </a:stretch>
            </a:blip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4339426" y="4368978"/>
            <a:ext cx="971801" cy="971801"/>
            <a:chOff x="0" y="0"/>
            <a:chExt cx="812800" cy="8128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044D6"/>
            </a:solidFill>
          </p:spPr>
        </p:sp>
        <p:sp>
          <p:nvSpPr>
            <p:cNvPr name="TextBox 46" id="4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47" id="47"/>
          <p:cNvSpPr/>
          <p:nvPr/>
        </p:nvSpPr>
        <p:spPr>
          <a:xfrm flipH="false" flipV="false" rot="0">
            <a:off x="14424153" y="4453705"/>
            <a:ext cx="802347" cy="802347"/>
          </a:xfrm>
          <a:custGeom>
            <a:avLst/>
            <a:gdLst/>
            <a:ahLst/>
            <a:cxnLst/>
            <a:rect r="r" b="b" t="t" l="l"/>
            <a:pathLst>
              <a:path h="802347" w="802347">
                <a:moveTo>
                  <a:pt x="0" y="0"/>
                </a:moveTo>
                <a:lnTo>
                  <a:pt x="802347" y="0"/>
                </a:lnTo>
                <a:lnTo>
                  <a:pt x="802347" y="802347"/>
                </a:lnTo>
                <a:lnTo>
                  <a:pt x="0" y="80234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8" id="48"/>
          <p:cNvSpPr txBox="true"/>
          <p:nvPr/>
        </p:nvSpPr>
        <p:spPr>
          <a:xfrm rot="0">
            <a:off x="803038" y="3015157"/>
            <a:ext cx="12916798" cy="1172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000037"/>
                </a:solidFill>
                <a:latin typeface="Arial"/>
                <a:ea typeface="Arial"/>
                <a:cs typeface="Arial"/>
                <a:sym typeface="Arial"/>
              </a:rPr>
              <a:t>How the ControlPlane resolves latency and acts</a:t>
            </a:r>
            <a:r>
              <a:rPr lang="en-US" sz="2199">
                <a:solidFill>
                  <a:srgbClr val="000037"/>
                </a:solidFill>
                <a:latin typeface="Arial"/>
                <a:ea typeface="Arial"/>
                <a:cs typeface="Arial"/>
                <a:sym typeface="Arial"/>
              </a:rPr>
              <a:t> on flagged teleme</a:t>
            </a:r>
            <a:r>
              <a:rPr lang="en-US" sz="2199">
                <a:solidFill>
                  <a:srgbClr val="000037"/>
                </a:solidFill>
                <a:latin typeface="Arial"/>
                <a:ea typeface="Arial"/>
                <a:cs typeface="Arial"/>
                <a:sym typeface="Arial"/>
              </a:rPr>
              <a:t>try without crippling the primary LLM pipeline:</a:t>
            </a:r>
          </a:p>
          <a:p>
            <a:pPr algn="l">
              <a:lnSpc>
                <a:spcPts val="3079"/>
              </a:lnSpc>
              <a:spcBef>
                <a:spcPct val="0"/>
              </a:spcBef>
            </a:pPr>
          </a:p>
        </p:txBody>
      </p:sp>
      <p:sp>
        <p:nvSpPr>
          <p:cNvPr name="TextBox 49" id="49"/>
          <p:cNvSpPr txBox="true"/>
          <p:nvPr/>
        </p:nvSpPr>
        <p:spPr>
          <a:xfrm rot="0">
            <a:off x="803038" y="1821646"/>
            <a:ext cx="16456262" cy="1031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240"/>
              </a:lnSpc>
              <a:spcBef>
                <a:spcPct val="0"/>
              </a:spcBef>
            </a:pPr>
            <a:r>
              <a:rPr lang="en-US" b="true" sz="5886">
                <a:gradFill>
                  <a:gsLst>
                    <a:gs pos="0">
                      <a:srgbClr val="6521F1">
                        <a:alpha val="100000"/>
                      </a:srgbClr>
                    </a:gs>
                    <a:gs pos="50000">
                      <a:srgbClr val="C437CF">
                        <a:alpha val="100000"/>
                      </a:srgbClr>
                    </a:gs>
                    <a:gs pos="100000">
                      <a:srgbClr val="FA5F69">
                        <a:alpha val="100000"/>
                      </a:srgbClr>
                    </a:gs>
                  </a:gsLst>
                  <a:lin ang="2700000"/>
                </a:gradFill>
                <a:latin typeface="Arial Bold"/>
                <a:ea typeface="Arial Bold"/>
                <a:cs typeface="Arial Bold"/>
                <a:sym typeface="Arial Bold"/>
              </a:rPr>
              <a:t>Dynamic Action Engine &amp; Mitigation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300910" y="487753"/>
            <a:ext cx="2216190" cy="332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 b="true">
                <a:solidFill>
                  <a:srgbClr val="000037"/>
                </a:solidFill>
                <a:latin typeface="Arial Bold"/>
                <a:ea typeface="Arial Bold"/>
                <a:cs typeface="Arial Bold"/>
                <a:sym typeface="Arial Bold"/>
              </a:rPr>
              <a:t>ControlPlane.ai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1A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4000500" y="-4000500"/>
            <a:ext cx="10287000" cy="18288000"/>
            <a:chOff x="0" y="0"/>
            <a:chExt cx="13716000" cy="24384000"/>
          </a:xfrm>
        </p:grpSpPr>
        <p:sp>
          <p:nvSpPr>
            <p:cNvPr name="Freeform 3" id="3" descr="A purple and black background  AI-generated content may be incorrect."/>
            <p:cNvSpPr/>
            <p:nvPr/>
          </p:nvSpPr>
          <p:spPr>
            <a:xfrm flipH="false" flipV="false" rot="0">
              <a:off x="0" y="0"/>
              <a:ext cx="13716000" cy="24384000"/>
            </a:xfrm>
            <a:custGeom>
              <a:avLst/>
              <a:gdLst/>
              <a:ahLst/>
              <a:cxnLst/>
              <a:rect r="r" b="b" t="t" l="l"/>
              <a:pathLst>
                <a:path h="24384000" w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88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3547865" y="9644777"/>
            <a:ext cx="3597135" cy="246831"/>
            <a:chOff x="0" y="0"/>
            <a:chExt cx="4796180" cy="32910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796184" cy="329101"/>
            </a:xfrm>
            <a:custGeom>
              <a:avLst/>
              <a:gdLst/>
              <a:ahLst/>
              <a:cxnLst/>
              <a:rect r="r" b="b" t="t" l="l"/>
              <a:pathLst>
                <a:path h="329101" w="4796184">
                  <a:moveTo>
                    <a:pt x="0" y="0"/>
                  </a:moveTo>
                  <a:lnTo>
                    <a:pt x="4796184" y="0"/>
                  </a:lnTo>
                  <a:lnTo>
                    <a:pt x="4796184" y="329101"/>
                  </a:lnTo>
                  <a:lnTo>
                    <a:pt x="0" y="32910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6557" r="0" b="-22137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4796180" cy="3481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39"/>
                </a:lnSpc>
              </a:pPr>
              <a:r>
                <a:rPr lang="en-US" sz="1200">
                  <a:solidFill>
                    <a:srgbClr val="D9D9D9"/>
                  </a:solidFill>
                  <a:latin typeface="Arial"/>
                  <a:ea typeface="Arial"/>
                  <a:cs typeface="Arial"/>
                  <a:sym typeface="Arial"/>
                </a:rPr>
                <a:t>Copyright © 2026 Accenture. All rights reserved.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7528943" y="9644777"/>
            <a:ext cx="187557" cy="246831"/>
            <a:chOff x="0" y="0"/>
            <a:chExt cx="250076" cy="32910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50070" cy="329101"/>
            </a:xfrm>
            <a:custGeom>
              <a:avLst/>
              <a:gdLst/>
              <a:ahLst/>
              <a:cxnLst/>
              <a:rect r="r" b="b" t="t" l="l"/>
              <a:pathLst>
                <a:path h="329101" w="250070">
                  <a:moveTo>
                    <a:pt x="0" y="0"/>
                  </a:moveTo>
                  <a:lnTo>
                    <a:pt x="250070" y="0"/>
                  </a:lnTo>
                  <a:lnTo>
                    <a:pt x="250070" y="329101"/>
                  </a:lnTo>
                  <a:lnTo>
                    <a:pt x="0" y="32910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6331" t="0" r="-76333" b="25181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250076" cy="3481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39"/>
                </a:lnSpc>
              </a:pPr>
              <a:r>
                <a:rPr lang="en-US" sz="1200">
                  <a:solidFill>
                    <a:srgbClr val="D9D9D9"/>
                  </a:solidFill>
                  <a:latin typeface="Arial"/>
                  <a:ea typeface="Arial"/>
                  <a:cs typeface="Arial"/>
                  <a:sym typeface="Arial"/>
                </a:rPr>
                <a:t>‹#›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42401" y="9575997"/>
            <a:ext cx="274939" cy="301752"/>
            <a:chOff x="0" y="0"/>
            <a:chExt cx="366586" cy="40233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66649" cy="402336"/>
            </a:xfrm>
            <a:custGeom>
              <a:avLst/>
              <a:gdLst/>
              <a:ahLst/>
              <a:cxnLst/>
              <a:rect r="r" b="b" t="t" l="l"/>
              <a:pathLst>
                <a:path h="402336" w="366649">
                  <a:moveTo>
                    <a:pt x="0" y="402336"/>
                  </a:moveTo>
                  <a:lnTo>
                    <a:pt x="366649" y="253619"/>
                  </a:lnTo>
                  <a:lnTo>
                    <a:pt x="366649" y="148717"/>
                  </a:lnTo>
                  <a:lnTo>
                    <a:pt x="0" y="0"/>
                  </a:lnTo>
                  <a:lnTo>
                    <a:pt x="0" y="105029"/>
                  </a:lnTo>
                  <a:lnTo>
                    <a:pt x="236982" y="201168"/>
                  </a:lnTo>
                  <a:lnTo>
                    <a:pt x="0" y="297307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FAFAFC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787023" y="5143500"/>
            <a:ext cx="7785783" cy="2481649"/>
            <a:chOff x="0" y="0"/>
            <a:chExt cx="10381044" cy="330886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381046" cy="3308866"/>
            </a:xfrm>
            <a:custGeom>
              <a:avLst/>
              <a:gdLst/>
              <a:ahLst/>
              <a:cxnLst/>
              <a:rect r="r" b="b" t="t" l="l"/>
              <a:pathLst>
                <a:path h="3308866" w="10381046">
                  <a:moveTo>
                    <a:pt x="0" y="0"/>
                  </a:moveTo>
                  <a:lnTo>
                    <a:pt x="10381046" y="0"/>
                  </a:lnTo>
                  <a:lnTo>
                    <a:pt x="10381046" y="3308866"/>
                  </a:lnTo>
                  <a:lnTo>
                    <a:pt x="0" y="330886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366" r="0" b="9103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228600"/>
              <a:ext cx="10381044" cy="30802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1519"/>
                </a:lnSpc>
              </a:pPr>
              <a:r>
                <a:rPr lang="en-US" sz="120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Thank you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DAHSehcRUeA</dc:identifier>
  <dcterms:modified xsi:type="dcterms:W3CDTF">2011-08-01T06:04:30Z</dcterms:modified>
  <cp:revision>1</cp:revision>
  <dc:title>23je0841_ControlPlane.ai</dc:title>
</cp:coreProperties>
</file>