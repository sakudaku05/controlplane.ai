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" charset="1" panose="020B0604020202020204"/>
      <p:regular r:id="rId15"/>
    </p:embeddedFont>
    <p:embeddedFont>
      <p:font typeface="Arial Bold" charset="1" panose="020B0704020202020204"/>
      <p:regular r:id="rId16"/>
    </p:embeddedFont>
    <p:embeddedFont>
      <p:font typeface="Open Sauce Bold" charset="1" panose="00000800000000000000"/>
      <p:regular r:id="rId17"/>
    </p:embeddedFont>
    <p:embeddedFont>
      <p:font typeface="Canva Sans Bold" charset="1" panose="020B0803030501040103"/>
      <p:regular r:id="rId18"/>
    </p:embeddedFont>
    <p:embeddedFont>
      <p:font typeface="Poppins" charset="1" panose="00000500000000000000"/>
      <p:regular r:id="rId19"/>
    </p:embeddedFont>
    <p:embeddedFont>
      <p:font typeface="Poppins Semi-Bold" charset="1" panose="000007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https://github.com/SakuDaku05/ControlPlane.ai.git" TargetMode="External" Type="http://schemas.openxmlformats.org/officeDocument/2006/relationships/hyperlink"/><Relationship Id="rId14" Target="https://drive.google.com/file/d/1Zi2CBcmYzRfpkBvMRCzA64meYZ_tw9wJ/view?usp=sharing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1.pn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16" Target="../media/image23.svg" Type="http://schemas.openxmlformats.org/officeDocument/2006/relationships/image"/><Relationship Id="rId17" Target="../media/image24.png" Type="http://schemas.openxmlformats.org/officeDocument/2006/relationships/image"/><Relationship Id="rId18" Target="../media/image25.svg" Type="http://schemas.openxmlformats.org/officeDocument/2006/relationships/image"/><Relationship Id="rId19" Target="../media/image26.png" Type="http://schemas.openxmlformats.org/officeDocument/2006/relationships/image"/><Relationship Id="rId2" Target="../media/image15.png" Type="http://schemas.openxmlformats.org/officeDocument/2006/relationships/image"/><Relationship Id="rId20" Target="../media/image27.svg" Type="http://schemas.openxmlformats.org/officeDocument/2006/relationships/image"/><Relationship Id="rId21" Target="../media/image28.svg" Type="http://schemas.openxmlformats.org/officeDocument/2006/relationships/image"/><Relationship Id="rId22" Target="../media/image29.svg" Type="http://schemas.openxmlformats.org/officeDocument/2006/relationships/image"/><Relationship Id="rId23" Target="../media/image30.png" Type="http://schemas.openxmlformats.org/officeDocument/2006/relationships/image"/><Relationship Id="rId24" Target="../media/image31.svg" Type="http://schemas.openxmlformats.org/officeDocument/2006/relationships/image"/><Relationship Id="rId25" Target="../media/image32.png" Type="http://schemas.openxmlformats.org/officeDocument/2006/relationships/image"/><Relationship Id="rId26" Target="../media/image33.svg" Type="http://schemas.openxmlformats.org/officeDocument/2006/relationships/image"/><Relationship Id="rId27" Target="../media/image34.png" Type="http://schemas.openxmlformats.org/officeDocument/2006/relationships/image"/><Relationship Id="rId28" Target="../media/image35.svg" Type="http://schemas.openxmlformats.org/officeDocument/2006/relationships/image"/><Relationship Id="rId29" Target="../media/image36.png" Type="http://schemas.openxmlformats.org/officeDocument/2006/relationships/image"/><Relationship Id="rId3" Target="../media/image16.svg" Type="http://schemas.openxmlformats.org/officeDocument/2006/relationships/image"/><Relationship Id="rId30" Target="../media/image37.svg" Type="http://schemas.openxmlformats.org/officeDocument/2006/relationships/image"/><Relationship Id="rId31" Target="../media/image38.png" Type="http://schemas.openxmlformats.org/officeDocument/2006/relationships/image"/><Relationship Id="rId32" Target="../media/image39.svg" Type="http://schemas.openxmlformats.org/officeDocument/2006/relationships/image"/><Relationship Id="rId33" Target="../media/image40.png" Type="http://schemas.openxmlformats.org/officeDocument/2006/relationships/image"/><Relationship Id="rId34" Target="../media/image41.png" Type="http://schemas.openxmlformats.org/officeDocument/2006/relationships/image"/><Relationship Id="rId35" Target="../media/image42.svg" Type="http://schemas.openxmlformats.org/officeDocument/2006/relationships/image"/><Relationship Id="rId36" Target="../media/image43.png" Type="http://schemas.openxmlformats.org/officeDocument/2006/relationships/image"/><Relationship Id="rId37" Target="../media/image44.svg" Type="http://schemas.openxmlformats.org/officeDocument/2006/relationships/image"/><Relationship Id="rId38" Target="../media/image45.png" Type="http://schemas.openxmlformats.org/officeDocument/2006/relationships/image"/><Relationship Id="rId39" Target="../media/image46.svg" Type="http://schemas.openxmlformats.org/officeDocument/2006/relationships/image"/><Relationship Id="rId4" Target="../media/image8.png" Type="http://schemas.openxmlformats.org/officeDocument/2006/relationships/image"/><Relationship Id="rId40" Target="../media/image47.png" Type="http://schemas.openxmlformats.org/officeDocument/2006/relationships/image"/><Relationship Id="rId41" Target="../media/image48.svg" Type="http://schemas.openxmlformats.org/officeDocument/2006/relationships/image"/><Relationship Id="rId42" Target="../media/image49.png" Type="http://schemas.openxmlformats.org/officeDocument/2006/relationships/image"/><Relationship Id="rId43" Target="../media/image50.svg" Type="http://schemas.openxmlformats.org/officeDocument/2006/relationships/image"/><Relationship Id="rId44" Target="../media/image51.png" Type="http://schemas.openxmlformats.org/officeDocument/2006/relationships/image"/><Relationship Id="rId45" Target="../media/image52.svg" Type="http://schemas.openxmlformats.org/officeDocument/2006/relationships/image"/><Relationship Id="rId46" Target="../media/image53.png" Type="http://schemas.openxmlformats.org/officeDocument/2006/relationships/image"/><Relationship Id="rId47" Target="../media/image5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1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svg" Type="http://schemas.openxmlformats.org/officeDocument/2006/relationships/image"/><Relationship Id="rId11" Target="../media/image43.png" Type="http://schemas.openxmlformats.org/officeDocument/2006/relationships/image"/><Relationship Id="rId12" Target="../media/image44.svg" Type="http://schemas.openxmlformats.org/officeDocument/2006/relationships/image"/><Relationship Id="rId13" Target="../media/image64.png" Type="http://schemas.openxmlformats.org/officeDocument/2006/relationships/image"/><Relationship Id="rId14" Target="../media/image65.svg" Type="http://schemas.openxmlformats.org/officeDocument/2006/relationships/image"/><Relationship Id="rId15" Target="../media/image66.png" Type="http://schemas.openxmlformats.org/officeDocument/2006/relationships/image"/><Relationship Id="rId16" Target="../media/image67.svg" Type="http://schemas.openxmlformats.org/officeDocument/2006/relationships/image"/><Relationship Id="rId17" Target="../media/image68.png" Type="http://schemas.openxmlformats.org/officeDocument/2006/relationships/image"/><Relationship Id="rId18" Target="../media/image69.sv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61.png" Type="http://schemas.openxmlformats.org/officeDocument/2006/relationships/image"/><Relationship Id="rId8" Target="../media/image1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1.jpeg" Type="http://schemas.openxmlformats.org/officeDocument/2006/relationships/image"/><Relationship Id="rId4" Target="https://github.com/SakuDaku05/ControlPlane.ai.git" TargetMode="External" Type="http://schemas.openxmlformats.org/officeDocument/2006/relationships/hyperlink"/><Relationship Id="rId5" Target="https://drive.google.com/file/d/1Zi2CBcmYzRfpkBvMRCzA64meYZ_tw9wJ/view?usp=sharing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47865" y="9644777"/>
            <a:ext cx="3597135" cy="246831"/>
            <a:chOff x="0" y="0"/>
            <a:chExt cx="4796180" cy="3291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6184" cy="329101"/>
            </a:xfrm>
            <a:custGeom>
              <a:avLst/>
              <a:gdLst/>
              <a:ahLst/>
              <a:cxnLst/>
              <a:rect r="r" b="b" t="t" l="l"/>
              <a:pathLst>
                <a:path h="329101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557" r="0" b="-2213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96180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Copyright © 2025 Accenture. All rights reserved.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28943" y="9644777"/>
            <a:ext cx="187557" cy="246831"/>
            <a:chOff x="0" y="0"/>
            <a:chExt cx="250076" cy="329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070" cy="329101"/>
            </a:xfrm>
            <a:custGeom>
              <a:avLst/>
              <a:gdLst/>
              <a:ahLst/>
              <a:cxnLst/>
              <a:rect r="r" b="b" t="t" l="l"/>
              <a:pathLst>
                <a:path h="329101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331" t="0" r="-76333" b="25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50076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9761" y="9586236"/>
            <a:ext cx="274806" cy="301752"/>
            <a:chOff x="0" y="0"/>
            <a:chExt cx="366408" cy="4023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395" cy="402336"/>
            </a:xfrm>
            <a:custGeom>
              <a:avLst/>
              <a:gdLst/>
              <a:ahLst/>
              <a:cxnLst/>
              <a:rect r="r" b="b" t="t" l="l"/>
              <a:pathLst>
                <a:path h="402336" w="366395">
                  <a:moveTo>
                    <a:pt x="0" y="402336"/>
                  </a:moveTo>
                  <a:lnTo>
                    <a:pt x="366395" y="253619"/>
                  </a:lnTo>
                  <a:lnTo>
                    <a:pt x="366395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855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57924" y="836381"/>
            <a:ext cx="1865728" cy="492766"/>
            <a:chOff x="0" y="0"/>
            <a:chExt cx="2487638" cy="657022"/>
          </a:xfrm>
        </p:grpSpPr>
        <p:sp>
          <p:nvSpPr>
            <p:cNvPr name="Freeform 11" id="11" descr="accenture logo"/>
            <p:cNvSpPr/>
            <p:nvPr/>
          </p:nvSpPr>
          <p:spPr>
            <a:xfrm flipH="false" flipV="false" rot="0">
              <a:off x="0" y="0"/>
              <a:ext cx="2487676" cy="656971"/>
            </a:xfrm>
            <a:custGeom>
              <a:avLst/>
              <a:gdLst/>
              <a:ahLst/>
              <a:cxnLst/>
              <a:rect r="r" b="b" t="t" l="l"/>
              <a:pathLst>
                <a:path h="656971" w="2487676">
                  <a:moveTo>
                    <a:pt x="0" y="0"/>
                  </a:moveTo>
                  <a:lnTo>
                    <a:pt x="2487676" y="0"/>
                  </a:lnTo>
                  <a:lnTo>
                    <a:pt x="2487676" y="656971"/>
                  </a:lnTo>
                  <a:lnTo>
                    <a:pt x="0" y="6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2" r="1" b="-11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9" y="1924"/>
            <a:ext cx="18287971" cy="10285076"/>
            <a:chOff x="0" y="0"/>
            <a:chExt cx="24383962" cy="137134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13713461"/>
            </a:xfrm>
            <a:custGeom>
              <a:avLst/>
              <a:gdLst/>
              <a:ahLst/>
              <a:cxnLst/>
              <a:rect r="r" b="b" t="t" l="l"/>
              <a:pathLst>
                <a:path h="13713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461"/>
                  </a:lnTo>
                  <a:lnTo>
                    <a:pt x="0" y="13713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10" b="-312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61682" y="8295751"/>
            <a:ext cx="8164637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b="true" sz="6000" spc="-2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AI reinvention made real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88114" y="8985714"/>
            <a:ext cx="6711772" cy="528971"/>
            <a:chOff x="0" y="0"/>
            <a:chExt cx="8949030" cy="7052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49055" cy="705231"/>
            </a:xfrm>
            <a:custGeom>
              <a:avLst/>
              <a:gdLst/>
              <a:ahLst/>
              <a:cxnLst/>
              <a:rect r="r" b="b" t="t" l="l"/>
              <a:pathLst>
                <a:path h="705231" w="8949055">
                  <a:moveTo>
                    <a:pt x="0" y="0"/>
                  </a:moveTo>
                  <a:lnTo>
                    <a:pt x="8949055" y="0"/>
                  </a:lnTo>
                  <a:lnTo>
                    <a:pt x="8949055" y="705231"/>
                  </a:lnTo>
                  <a:lnTo>
                    <a:pt x="0" y="705231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879554" y="8985494"/>
            <a:ext cx="652889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Accenture Innovation Challenge 2026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15336" y="1000592"/>
            <a:ext cx="1876844" cy="495700"/>
            <a:chOff x="0" y="0"/>
            <a:chExt cx="2502459" cy="6609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02408" cy="660908"/>
            </a:xfrm>
            <a:custGeom>
              <a:avLst/>
              <a:gdLst/>
              <a:ahLst/>
              <a:cxnLst/>
              <a:rect r="r" b="b" t="t" l="l"/>
              <a:pathLst>
                <a:path h="660908" w="2502408">
                  <a:moveTo>
                    <a:pt x="0" y="0"/>
                  </a:moveTo>
                  <a:lnTo>
                    <a:pt x="2502408" y="0"/>
                  </a:lnTo>
                  <a:lnTo>
                    <a:pt x="2502408" y="660908"/>
                  </a:lnTo>
                  <a:lnTo>
                    <a:pt x="0" y="660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40935" y="3050787"/>
            <a:ext cx="4765510" cy="1637963"/>
            <a:chOff x="0" y="0"/>
            <a:chExt cx="6354013" cy="2183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4014" cy="2183948"/>
            </a:xfrm>
            <a:custGeom>
              <a:avLst/>
              <a:gdLst/>
              <a:ahLst/>
              <a:cxnLst/>
              <a:rect r="r" b="b" t="t" l="l"/>
              <a:pathLst>
                <a:path h="2183948" w="6354014">
                  <a:moveTo>
                    <a:pt x="0" y="0"/>
                  </a:moveTo>
                  <a:lnTo>
                    <a:pt x="6354014" y="0"/>
                  </a:lnTo>
                  <a:lnTo>
                    <a:pt x="6354014" y="2183948"/>
                  </a:lnTo>
                  <a:lnTo>
                    <a:pt x="0" y="21839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48" r="0" b="616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6354013" cy="20982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855"/>
                </a:lnSpc>
              </a:pPr>
              <a:r>
                <a:rPr lang="en-US" b="true" sz="4995">
                  <a:solidFill>
                    <a:srgbClr val="A100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Sahil Bhavesh Choudhary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9144000" y="3200878"/>
            <a:ext cx="4744" cy="5871319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12660">
            <a:off x="3930072" y="4510688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026284" y="6077003"/>
            <a:ext cx="4594812" cy="1722203"/>
            <a:chOff x="0" y="0"/>
            <a:chExt cx="6126416" cy="22962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26421" cy="2296268"/>
            </a:xfrm>
            <a:custGeom>
              <a:avLst/>
              <a:gdLst/>
              <a:ahLst/>
              <a:cxnLst/>
              <a:rect r="r" b="b" t="t" l="l"/>
              <a:pathLst>
                <a:path h="2296268" w="6126421">
                  <a:moveTo>
                    <a:pt x="0" y="0"/>
                  </a:moveTo>
                  <a:lnTo>
                    <a:pt x="6126421" y="0"/>
                  </a:lnTo>
                  <a:lnTo>
                    <a:pt x="6126421" y="2296268"/>
                  </a:lnTo>
                  <a:lnTo>
                    <a:pt x="0" y="22962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04" t="0" r="41952" b="2934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6126416" cy="22676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5000">
                  <a:solidFill>
                    <a:srgbClr val="A100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Saket Kumar Singh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12660">
            <a:off x="4122344" y="7647975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803038" y="2171328"/>
          <a:ext cx="17411700" cy="625475"/>
        </p:xfrm>
        <a:graphic>
          <a:graphicData uri="http://schemas.openxmlformats.org/drawingml/2006/table">
            <a:tbl>
              <a:tblPr/>
              <a:tblGrid>
                <a:gridCol w="6572574"/>
                <a:gridCol w="10839126"/>
              </a:tblGrid>
              <a:tr h="6254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A100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TEAM NAME:  23je0841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name="AutoShape 12" id="12"/>
          <p:cNvSpPr/>
          <p:nvPr/>
        </p:nvSpPr>
        <p:spPr>
          <a:xfrm>
            <a:off x="803038" y="1019175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803038" y="506774"/>
            <a:ext cx="342324" cy="342324"/>
          </a:xfrm>
          <a:custGeom>
            <a:avLst/>
            <a:gdLst/>
            <a:ahLst/>
            <a:cxnLst/>
            <a:rect r="r" b="b" t="t" l="l"/>
            <a:pathLst>
              <a:path h="342324" w="342324">
                <a:moveTo>
                  <a:pt x="0" y="0"/>
                </a:moveTo>
                <a:lnTo>
                  <a:pt x="342324" y="0"/>
                </a:lnTo>
                <a:lnTo>
                  <a:pt x="342324" y="342324"/>
                </a:lnTo>
                <a:lnTo>
                  <a:pt x="0" y="342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7350740" y="9805187"/>
            <a:ext cx="39568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>
                    <a:alpha val="4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328724" y="3410649"/>
            <a:ext cx="7022016" cy="2634898"/>
            <a:chOff x="0" y="0"/>
            <a:chExt cx="9362687" cy="351319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60960" y="570556"/>
              <a:ext cx="2887320" cy="2942641"/>
              <a:chOff x="0" y="0"/>
              <a:chExt cx="2887320" cy="294264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887345" cy="2942590"/>
              </a:xfrm>
              <a:custGeom>
                <a:avLst/>
                <a:gdLst/>
                <a:ahLst/>
                <a:cxnLst/>
                <a:rect r="r" b="b" t="t" l="l"/>
                <a:pathLst>
                  <a:path h="2942590" w="2887345">
                    <a:moveTo>
                      <a:pt x="0" y="0"/>
                    </a:moveTo>
                    <a:lnTo>
                      <a:pt x="2887345" y="0"/>
                    </a:lnTo>
                    <a:lnTo>
                      <a:pt x="2887345" y="2942590"/>
                    </a:lnTo>
                    <a:lnTo>
                      <a:pt x="0" y="2942590"/>
                    </a:ln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66848"/>
              <a:ext cx="2868435" cy="2942641"/>
              <a:chOff x="0" y="0"/>
              <a:chExt cx="2868435" cy="294264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868422" cy="2942590"/>
              </a:xfrm>
              <a:custGeom>
                <a:avLst/>
                <a:gdLst/>
                <a:ahLst/>
                <a:cxnLst/>
                <a:rect r="r" b="b" t="t" l="l"/>
                <a:pathLst>
                  <a:path h="2942590" w="2868422">
                    <a:moveTo>
                      <a:pt x="0" y="0"/>
                    </a:moveTo>
                    <a:lnTo>
                      <a:pt x="2868422" y="0"/>
                    </a:lnTo>
                    <a:lnTo>
                      <a:pt x="2868422" y="2942590"/>
                    </a:lnTo>
                    <a:lnTo>
                      <a:pt x="0" y="29425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-12665" r="0" b="-12665"/>
                </a:stretch>
              </a:blip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3648786" y="0"/>
              <a:ext cx="5318087" cy="1622322"/>
              <a:chOff x="0" y="0"/>
              <a:chExt cx="5318087" cy="162232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318086" cy="1622321"/>
              </a:xfrm>
              <a:custGeom>
                <a:avLst/>
                <a:gdLst/>
                <a:ahLst/>
                <a:cxnLst/>
                <a:rect r="r" b="b" t="t" l="l"/>
                <a:pathLst>
                  <a:path h="1622321" w="5318086">
                    <a:moveTo>
                      <a:pt x="0" y="0"/>
                    </a:moveTo>
                    <a:lnTo>
                      <a:pt x="5318086" y="0"/>
                    </a:lnTo>
                    <a:lnTo>
                      <a:pt x="5318086" y="1622321"/>
                    </a:lnTo>
                    <a:lnTo>
                      <a:pt x="0" y="162232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2113" t="0" r="33833" b="0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28575"/>
                <a:ext cx="5318087" cy="1593747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l">
                  <a:lnSpc>
                    <a:spcPts val="5400"/>
                  </a:lnSpc>
                </a:pPr>
                <a:r>
                  <a:rPr lang="en-US" b="true" sz="5000">
                    <a:solidFill>
                      <a:srgbClr val="A100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Mayank Raj</a:t>
                </a: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3728135" y="1469550"/>
              <a:ext cx="3448712" cy="12700"/>
            </a:xfrm>
            <a:prstGeom prst="line">
              <a:avLst/>
            </a:prstGeom>
            <a:ln cap="rnd" w="12700">
              <a:solidFill>
                <a:srgbClr val="46007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3799332" y="1780078"/>
              <a:ext cx="5563355" cy="144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College: IIT (ISM) Dhanbad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Stream: B.Tech - Petroleum Engineering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Year of graduation: 2027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1853746" y="5058618"/>
            <a:ext cx="8529366" cy="8615521"/>
          </a:xfrm>
          <a:custGeom>
            <a:avLst/>
            <a:gdLst/>
            <a:ahLst/>
            <a:cxnLst/>
            <a:rect r="r" b="b" t="t" l="l"/>
            <a:pathLst>
              <a:path h="8615521" w="8529366">
                <a:moveTo>
                  <a:pt x="0" y="0"/>
                </a:moveTo>
                <a:lnTo>
                  <a:pt x="8529366" y="0"/>
                </a:lnTo>
                <a:lnTo>
                  <a:pt x="8529366" y="8615521"/>
                </a:lnTo>
                <a:lnTo>
                  <a:pt x="0" y="8615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>
            <a:off x="803038" y="9747394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-5400000">
            <a:off x="16951514" y="9569305"/>
            <a:ext cx="186550" cy="933252"/>
          </a:xfrm>
          <a:custGeom>
            <a:avLst/>
            <a:gdLst/>
            <a:ahLst/>
            <a:cxnLst/>
            <a:rect r="r" b="b" t="t" l="l"/>
            <a:pathLst>
              <a:path h="933252" w="186550">
                <a:moveTo>
                  <a:pt x="0" y="0"/>
                </a:moveTo>
                <a:lnTo>
                  <a:pt x="186550" y="0"/>
                </a:lnTo>
                <a:lnTo>
                  <a:pt x="186550" y="933252"/>
                </a:lnTo>
                <a:lnTo>
                  <a:pt x="0" y="9332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146966" b="-27809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7115282" y="545603"/>
            <a:ext cx="288036" cy="303495"/>
            <a:chOff x="0" y="0"/>
            <a:chExt cx="384048" cy="404660"/>
          </a:xfrm>
        </p:grpSpPr>
        <p:sp>
          <p:nvSpPr>
            <p:cNvPr name="Freeform 29" id="29" descr="A picture containing drawing, clock  Description automatically generated"/>
            <p:cNvSpPr/>
            <p:nvPr/>
          </p:nvSpPr>
          <p:spPr>
            <a:xfrm flipH="false" flipV="false" rot="0">
              <a:off x="0" y="0"/>
              <a:ext cx="384048" cy="404622"/>
            </a:xfrm>
            <a:custGeom>
              <a:avLst/>
              <a:gdLst/>
              <a:ahLst/>
              <a:cxnLst/>
              <a:rect r="r" b="b" t="t" l="l"/>
              <a:pathLst>
                <a:path h="404622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404622"/>
                  </a:lnTo>
                  <a:lnTo>
                    <a:pt x="0" y="404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75" t="0" r="-171" b="-9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03038" y="1320936"/>
            <a:ext cx="17145000" cy="72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5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details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26284" y="4738821"/>
            <a:ext cx="441288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College: IIT (ISM) Dhanbad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Stream: B.Tech - Petroleum Engineering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of graduation: 2027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47868" y="7880737"/>
            <a:ext cx="415129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College: IIT (ISM) Dhanbad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Stream: B.Tech - Petroleum Engineering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of graduation: 2027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300910" y="487753"/>
            <a:ext cx="221619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ControlPlane.ai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3524975"/>
            <a:ext cx="2415864" cy="2441875"/>
            <a:chOff x="0" y="0"/>
            <a:chExt cx="3221152" cy="3255834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333832" y="313193"/>
              <a:ext cx="2887320" cy="2942641"/>
              <a:chOff x="0" y="0"/>
              <a:chExt cx="2887320" cy="294264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887345" cy="2942590"/>
              </a:xfrm>
              <a:custGeom>
                <a:avLst/>
                <a:gdLst/>
                <a:ahLst/>
                <a:cxnLst/>
                <a:rect r="r" b="b" t="t" l="l"/>
                <a:pathLst>
                  <a:path h="2942590" w="2887345">
                    <a:moveTo>
                      <a:pt x="0" y="0"/>
                    </a:moveTo>
                    <a:lnTo>
                      <a:pt x="2887345" y="0"/>
                    </a:lnTo>
                    <a:lnTo>
                      <a:pt x="2887345" y="2942590"/>
                    </a:lnTo>
                    <a:lnTo>
                      <a:pt x="0" y="2942590"/>
                    </a:ln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32589" y="0"/>
              <a:ext cx="2831038" cy="2831038"/>
            </a:xfrm>
            <a:custGeom>
              <a:avLst/>
              <a:gdLst/>
              <a:ahLst/>
              <a:cxnLst/>
              <a:rect r="r" b="b" t="t" l="l"/>
              <a:pathLst>
                <a:path h="2831038" w="2831038">
                  <a:moveTo>
                    <a:pt x="0" y="0"/>
                  </a:moveTo>
                  <a:lnTo>
                    <a:pt x="2831038" y="0"/>
                  </a:lnTo>
                  <a:lnTo>
                    <a:pt x="2831038" y="2831038"/>
                  </a:lnTo>
                  <a:lnTo>
                    <a:pt x="0" y="2831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grpSp>
          <p:nvGrpSpPr>
            <p:cNvPr name="Group 38" id="38"/>
            <p:cNvGrpSpPr/>
            <p:nvPr/>
          </p:nvGrpSpPr>
          <p:grpSpPr>
            <a:xfrm rot="0">
              <a:off x="0" y="0"/>
              <a:ext cx="2868435" cy="2942641"/>
              <a:chOff x="0" y="0"/>
              <a:chExt cx="2868435" cy="294264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868422" cy="2942590"/>
              </a:xfrm>
              <a:custGeom>
                <a:avLst/>
                <a:gdLst/>
                <a:ahLst/>
                <a:cxnLst/>
                <a:rect r="r" b="b" t="t" l="l"/>
                <a:pathLst>
                  <a:path h="2942590" w="2868422">
                    <a:moveTo>
                      <a:pt x="0" y="0"/>
                    </a:moveTo>
                    <a:lnTo>
                      <a:pt x="2868422" y="0"/>
                    </a:lnTo>
                    <a:lnTo>
                      <a:pt x="2868422" y="2942590"/>
                    </a:lnTo>
                    <a:lnTo>
                      <a:pt x="0" y="29425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0" r="0" b="-25559"/>
                </a:stretch>
              </a:blipFill>
            </p:spPr>
          </p:sp>
        </p:grpSp>
      </p:grpSp>
      <p:grpSp>
        <p:nvGrpSpPr>
          <p:cNvPr name="Group 40" id="40"/>
          <p:cNvGrpSpPr/>
          <p:nvPr/>
        </p:nvGrpSpPr>
        <p:grpSpPr>
          <a:xfrm rot="0">
            <a:off x="1346444" y="6690751"/>
            <a:ext cx="2165490" cy="2206981"/>
            <a:chOff x="0" y="0"/>
            <a:chExt cx="2887320" cy="294264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87345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87345">
                  <a:moveTo>
                    <a:pt x="0" y="0"/>
                  </a:moveTo>
                  <a:lnTo>
                    <a:pt x="2887345" y="0"/>
                  </a:lnTo>
                  <a:lnTo>
                    <a:pt x="2887345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1120512" y="6524712"/>
            <a:ext cx="2123278" cy="2123278"/>
          </a:xfrm>
          <a:custGeom>
            <a:avLst/>
            <a:gdLst/>
            <a:ahLst/>
            <a:cxnLst/>
            <a:rect r="r" b="b" t="t" l="l"/>
            <a:pathLst>
              <a:path h="2123278" w="2123278">
                <a:moveTo>
                  <a:pt x="0" y="0"/>
                </a:moveTo>
                <a:lnTo>
                  <a:pt x="2123279" y="0"/>
                </a:lnTo>
                <a:lnTo>
                  <a:pt x="2123279" y="2123278"/>
                </a:lnTo>
                <a:lnTo>
                  <a:pt x="0" y="21232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120512" y="6275132"/>
            <a:ext cx="2123278" cy="2372858"/>
            <a:chOff x="0" y="0"/>
            <a:chExt cx="2633130" cy="294264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33119" cy="2942590"/>
            </a:xfrm>
            <a:custGeom>
              <a:avLst/>
              <a:gdLst/>
              <a:ahLst/>
              <a:cxnLst/>
              <a:rect r="r" b="b" t="t" l="l"/>
              <a:pathLst>
                <a:path h="2942590" w="2633119">
                  <a:moveTo>
                    <a:pt x="0" y="0"/>
                  </a:moveTo>
                  <a:lnTo>
                    <a:pt x="2633119" y="0"/>
                  </a:lnTo>
                  <a:lnTo>
                    <a:pt x="2633119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9692" r="0" b="-9692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2710683" y="9106996"/>
            <a:ext cx="4774279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Repo Link: </a:t>
            </a:r>
            <a:r>
              <a:rPr lang="en-US" b="true" sz="1600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13" tooltip="https://github.com/SakuDaku05/ControlPlane.ai.git"/>
              </a:rPr>
              <a:t>Click Here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Demo/Prototype Video link: </a:t>
            </a:r>
            <a:r>
              <a:rPr lang="en-US" b="true" sz="1600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14" tooltip="https://drive.google.com/file/d/1Zi2CBcmYzRfpkBvMRCzA64meYZ_tw9wJ/view?usp=sharing"/>
              </a:rPr>
              <a:t>Click Here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38052" y="7020672"/>
            <a:ext cx="1044813" cy="1044813"/>
          </a:xfrm>
          <a:custGeom>
            <a:avLst/>
            <a:gdLst/>
            <a:ahLst/>
            <a:cxnLst/>
            <a:rect r="r" b="b" t="t" l="l"/>
            <a:pathLst>
              <a:path h="1044813" w="1044813">
                <a:moveTo>
                  <a:pt x="0" y="0"/>
                </a:moveTo>
                <a:lnTo>
                  <a:pt x="1044813" y="0"/>
                </a:lnTo>
                <a:lnTo>
                  <a:pt x="1044813" y="1044812"/>
                </a:lnTo>
                <a:lnTo>
                  <a:pt x="0" y="1044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53746" y="5058618"/>
            <a:ext cx="8529366" cy="8615521"/>
          </a:xfrm>
          <a:custGeom>
            <a:avLst/>
            <a:gdLst/>
            <a:ahLst/>
            <a:cxnLst/>
            <a:rect r="r" b="b" t="t" l="l"/>
            <a:pathLst>
              <a:path h="8615521" w="8529366">
                <a:moveTo>
                  <a:pt x="0" y="0"/>
                </a:moveTo>
                <a:lnTo>
                  <a:pt x="8529366" y="0"/>
                </a:lnTo>
                <a:lnTo>
                  <a:pt x="8529366" y="8615521"/>
                </a:lnTo>
                <a:lnTo>
                  <a:pt x="0" y="8615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3038" y="506774"/>
            <a:ext cx="342324" cy="342324"/>
          </a:xfrm>
          <a:custGeom>
            <a:avLst/>
            <a:gdLst/>
            <a:ahLst/>
            <a:cxnLst/>
            <a:rect r="r" b="b" t="t" l="l"/>
            <a:pathLst>
              <a:path h="342324" w="342324">
                <a:moveTo>
                  <a:pt x="0" y="0"/>
                </a:moveTo>
                <a:lnTo>
                  <a:pt x="342324" y="0"/>
                </a:lnTo>
                <a:lnTo>
                  <a:pt x="342324" y="342324"/>
                </a:lnTo>
                <a:lnTo>
                  <a:pt x="0" y="342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6951514" y="9569305"/>
            <a:ext cx="186550" cy="933252"/>
          </a:xfrm>
          <a:custGeom>
            <a:avLst/>
            <a:gdLst/>
            <a:ahLst/>
            <a:cxnLst/>
            <a:rect r="r" b="b" t="t" l="l"/>
            <a:pathLst>
              <a:path h="933252" w="186550">
                <a:moveTo>
                  <a:pt x="0" y="0"/>
                </a:moveTo>
                <a:lnTo>
                  <a:pt x="186550" y="0"/>
                </a:lnTo>
                <a:lnTo>
                  <a:pt x="186550" y="933252"/>
                </a:lnTo>
                <a:lnTo>
                  <a:pt x="0" y="9332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146966" b="-2780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3038" y="3613516"/>
            <a:ext cx="10243526" cy="1037511"/>
            <a:chOff x="0" y="0"/>
            <a:chExt cx="2697883" cy="2732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97883" cy="273254"/>
            </a:xfrm>
            <a:custGeom>
              <a:avLst/>
              <a:gdLst/>
              <a:ahLst/>
              <a:cxnLst/>
              <a:rect r="r" b="b" t="t" l="l"/>
              <a:pathLst>
                <a:path h="273254" w="2697883">
                  <a:moveTo>
                    <a:pt x="18139" y="0"/>
                  </a:moveTo>
                  <a:lnTo>
                    <a:pt x="2679745" y="0"/>
                  </a:lnTo>
                  <a:cubicBezTo>
                    <a:pt x="2684555" y="0"/>
                    <a:pt x="2689169" y="1911"/>
                    <a:pt x="2692571" y="5313"/>
                  </a:cubicBezTo>
                  <a:cubicBezTo>
                    <a:pt x="2695972" y="8714"/>
                    <a:pt x="2697883" y="13328"/>
                    <a:pt x="2697883" y="18139"/>
                  </a:cubicBezTo>
                  <a:lnTo>
                    <a:pt x="2697883" y="255115"/>
                  </a:lnTo>
                  <a:cubicBezTo>
                    <a:pt x="2697883" y="265133"/>
                    <a:pt x="2689762" y="273254"/>
                    <a:pt x="2679745" y="273254"/>
                  </a:cubicBezTo>
                  <a:lnTo>
                    <a:pt x="18139" y="273254"/>
                  </a:lnTo>
                  <a:cubicBezTo>
                    <a:pt x="8121" y="273254"/>
                    <a:pt x="0" y="265133"/>
                    <a:pt x="0" y="255115"/>
                  </a:cubicBezTo>
                  <a:lnTo>
                    <a:pt x="0" y="18139"/>
                  </a:lnTo>
                  <a:cubicBezTo>
                    <a:pt x="0" y="8121"/>
                    <a:pt x="8121" y="0"/>
                    <a:pt x="18139" y="0"/>
                  </a:cubicBezTo>
                  <a:close/>
                </a:path>
              </a:pathLst>
            </a:custGeom>
            <a:solidFill>
              <a:srgbClr val="FAFA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697883" cy="330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2020093" y="3862991"/>
            <a:ext cx="0" cy="753800"/>
          </a:xfrm>
          <a:prstGeom prst="line">
            <a:avLst/>
          </a:prstGeom>
          <a:ln cap="flat" w="28575">
            <a:solidFill>
              <a:srgbClr val="E6E2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02788" y="3766720"/>
            <a:ext cx="774767" cy="77476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18529" y="3870282"/>
            <a:ext cx="543286" cy="554374"/>
          </a:xfrm>
          <a:custGeom>
            <a:avLst/>
            <a:gdLst/>
            <a:ahLst/>
            <a:cxnLst/>
            <a:rect r="r" b="b" t="t" l="l"/>
            <a:pathLst>
              <a:path h="554374" w="543286">
                <a:moveTo>
                  <a:pt x="0" y="0"/>
                </a:moveTo>
                <a:lnTo>
                  <a:pt x="543286" y="0"/>
                </a:lnTo>
                <a:lnTo>
                  <a:pt x="543286" y="554374"/>
                </a:lnTo>
                <a:lnTo>
                  <a:pt x="0" y="5543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115282" y="545603"/>
            <a:ext cx="288036" cy="303495"/>
            <a:chOff x="0" y="0"/>
            <a:chExt cx="384048" cy="404660"/>
          </a:xfrm>
        </p:grpSpPr>
        <p:sp>
          <p:nvSpPr>
            <p:cNvPr name="Freeform 15" id="15" descr="A picture containing drawing, clock  Description automatically generated"/>
            <p:cNvSpPr/>
            <p:nvPr/>
          </p:nvSpPr>
          <p:spPr>
            <a:xfrm flipH="false" flipV="false" rot="0">
              <a:off x="0" y="0"/>
              <a:ext cx="384048" cy="404622"/>
            </a:xfrm>
            <a:custGeom>
              <a:avLst/>
              <a:gdLst/>
              <a:ahLst/>
              <a:cxnLst/>
              <a:rect r="r" b="b" t="t" l="l"/>
              <a:pathLst>
                <a:path h="404622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404622"/>
                  </a:lnTo>
                  <a:lnTo>
                    <a:pt x="0" y="404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75" t="0" r="-171" b="-9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6018518" y="1179894"/>
            <a:ext cx="319534" cy="319534"/>
          </a:xfrm>
          <a:custGeom>
            <a:avLst/>
            <a:gdLst/>
            <a:ahLst/>
            <a:cxnLst/>
            <a:rect r="r" b="b" t="t" l="l"/>
            <a:pathLst>
              <a:path h="319534" w="319534">
                <a:moveTo>
                  <a:pt x="0" y="0"/>
                </a:moveTo>
                <a:lnTo>
                  <a:pt x="319534" y="0"/>
                </a:lnTo>
                <a:lnTo>
                  <a:pt x="319534" y="319534"/>
                </a:lnTo>
                <a:lnTo>
                  <a:pt x="0" y="3195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7" id="17"/>
          <p:cNvSpPr/>
          <p:nvPr/>
        </p:nvSpPr>
        <p:spPr>
          <a:xfrm>
            <a:off x="803038" y="9747394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03038" y="1019175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1183483" y="1338547"/>
            <a:ext cx="0" cy="3895442"/>
          </a:xfrm>
          <a:prstGeom prst="line">
            <a:avLst/>
          </a:prstGeom>
          <a:ln cap="flat" w="4762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 flipV="true">
            <a:off x="9598684" y="6092892"/>
            <a:ext cx="708058" cy="4321"/>
          </a:xfrm>
          <a:prstGeom prst="line">
            <a:avLst/>
          </a:prstGeom>
          <a:ln cap="flat" w="4762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21" id="21"/>
          <p:cNvSpPr/>
          <p:nvPr/>
        </p:nvSpPr>
        <p:spPr>
          <a:xfrm flipV="true">
            <a:off x="11854633" y="1499428"/>
            <a:ext cx="707614" cy="7496"/>
          </a:xfrm>
          <a:prstGeom prst="line">
            <a:avLst/>
          </a:prstGeom>
          <a:ln cap="flat" w="4762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oval" len="lg" w="lg"/>
            <a:tailEnd type="oval" len="lg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1389465" y="1963092"/>
            <a:ext cx="6715864" cy="3180408"/>
            <a:chOff x="0" y="0"/>
            <a:chExt cx="8954486" cy="4240544"/>
          </a:xfrm>
        </p:grpSpPr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0">
              <a:off x="831162" y="124497"/>
              <a:ext cx="1537616" cy="3042438"/>
              <a:chOff x="0" y="0"/>
              <a:chExt cx="2620010" cy="518414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r="r" b="b" t="t" l="l"/>
                <a:pathLst>
                  <a:path h="5132070" w="251333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2250453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14"/>
                <a:stretch>
                  <a:fillRect l="-112379" t="0" r="-112379" b="0"/>
                </a:stretch>
              </a:blip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r="r" b="b" t="t" l="l"/>
                <a:pathLst>
                  <a:path h="43180" w="3479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r="r" b="b" t="t" l="l"/>
                <a:pathLst>
                  <a:path h="63501" w="63785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685800"/>
                <a:ext cx="27940" cy="213360"/>
              </a:xfrm>
              <a:custGeom>
                <a:avLst/>
                <a:gdLst/>
                <a:ahLst/>
                <a:cxnLst/>
                <a:rect r="r" b="b" t="t" l="l"/>
                <a:pathLst>
                  <a:path h="213360" w="2794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1057910"/>
                <a:ext cx="27940" cy="384810"/>
              </a:xfrm>
              <a:custGeom>
                <a:avLst/>
                <a:gdLst/>
                <a:ahLst/>
                <a:cxnLst/>
                <a:rect r="r" b="b" t="t" l="l"/>
                <a:pathLst>
                  <a:path h="384810" w="2794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1526540"/>
                <a:ext cx="27940" cy="386080"/>
              </a:xfrm>
              <a:custGeom>
                <a:avLst/>
                <a:gdLst/>
                <a:ahLst/>
                <a:cxnLst/>
                <a:rect r="r" b="b" t="t" l="l"/>
                <a:pathLst>
                  <a:path h="386080" w="2794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r="r" b="b" t="t" l="l"/>
                <a:pathLst>
                  <a:path h="618490" w="2794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27940" y="0"/>
                <a:ext cx="2564130" cy="5182870"/>
              </a:xfrm>
              <a:custGeom>
                <a:avLst/>
                <a:gdLst/>
                <a:ahLst/>
                <a:cxnLst/>
                <a:rect r="r" b="b" t="t" l="l"/>
                <a:pathLst>
                  <a:path h="5182870" w="256413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FCE9D8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3231035" y="0"/>
              <a:ext cx="1414199" cy="1414199"/>
              <a:chOff x="0" y="0"/>
              <a:chExt cx="558800" cy="558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0" y="558800"/>
                    </a:moveTo>
                    <a:cubicBezTo>
                      <a:pt x="0" y="411634"/>
                      <a:pt x="59606" y="267731"/>
                      <a:pt x="163669" y="163669"/>
                    </a:cubicBezTo>
                    <a:cubicBezTo>
                      <a:pt x="267731" y="59606"/>
                      <a:pt x="411634" y="0"/>
                      <a:pt x="558800" y="0"/>
                    </a:cubicBezTo>
                    <a:lnTo>
                      <a:pt x="558800" y="285081"/>
                    </a:lnTo>
                    <a:cubicBezTo>
                      <a:pt x="486712" y="285081"/>
                      <a:pt x="416225" y="314278"/>
                      <a:pt x="365251" y="365251"/>
                    </a:cubicBezTo>
                    <a:cubicBezTo>
                      <a:pt x="314278" y="416225"/>
                      <a:pt x="285081" y="486712"/>
                      <a:pt x="285081" y="558800"/>
                    </a:cubicBezTo>
                    <a:lnTo>
                      <a:pt x="0" y="558800"/>
                    </a:lnTo>
                    <a:close/>
                  </a:path>
                </a:pathLst>
              </a:custGeom>
              <a:solidFill>
                <a:srgbClr val="EBD8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27000" y="79375"/>
                <a:ext cx="304800" cy="352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36" id="36"/>
            <p:cNvSpPr/>
            <p:nvPr/>
          </p:nvSpPr>
          <p:spPr>
            <a:xfrm>
              <a:off x="1978476" y="1223000"/>
              <a:ext cx="3788966" cy="1691"/>
            </a:xfrm>
            <a:prstGeom prst="line">
              <a:avLst/>
            </a:prstGeom>
            <a:ln cap="flat" w="42081">
              <a:solidFill>
                <a:srgbClr val="1E1E1E"/>
              </a:solidFill>
              <a:prstDash val="sysDash"/>
              <a:headEnd type="oval" len="lg" w="lg"/>
              <a:tailEnd type="arrow" len="sm" w="med"/>
            </a:ln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3714186" y="479892"/>
              <a:ext cx="1744756" cy="1491766"/>
            </a:xfrm>
            <a:custGeom>
              <a:avLst/>
              <a:gdLst/>
              <a:ahLst/>
              <a:cxnLst/>
              <a:rect r="r" b="b" t="t" l="l"/>
              <a:pathLst>
                <a:path h="1491766" w="1744756">
                  <a:moveTo>
                    <a:pt x="0" y="0"/>
                  </a:moveTo>
                  <a:lnTo>
                    <a:pt x="1744756" y="0"/>
                  </a:lnTo>
                  <a:lnTo>
                    <a:pt x="1744756" y="1491767"/>
                  </a:lnTo>
                  <a:lnTo>
                    <a:pt x="0" y="1491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 rot="0">
              <a:off x="3197724" y="2100906"/>
              <a:ext cx="2160098" cy="300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52"/>
                </a:lnSpc>
                <a:spcBef>
                  <a:spcPct val="0"/>
                </a:spcBef>
              </a:pPr>
              <a:r>
                <a:rPr lang="en-US" b="true" sz="1460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ControlPlane.ai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2542415" y="2512835"/>
              <a:ext cx="3470716" cy="787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5"/>
                </a:lnSpc>
              </a:pPr>
              <a:r>
                <a:rPr lang="en-US" sz="1188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Sidecar Proxy</a:t>
              </a:r>
            </a:p>
            <a:p>
              <a:pPr algn="l" marL="260923" indent="-130462" lvl="1">
                <a:lnSpc>
                  <a:spcPts val="1571"/>
                </a:lnSpc>
                <a:buFont typeface="Arial"/>
                <a:buChar char="•"/>
              </a:pPr>
              <a:r>
                <a:rPr lang="en-US" sz="1208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Runs deterministic checks inline</a:t>
              </a:r>
            </a:p>
            <a:p>
              <a:pPr algn="l" marL="260923" indent="-130462" lvl="1">
                <a:lnSpc>
                  <a:spcPts val="1571"/>
                </a:lnSpc>
                <a:buFont typeface="Arial"/>
                <a:buChar char="•"/>
              </a:pPr>
              <a:r>
                <a:rPr lang="en-US" sz="1208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Forwards stream to client instantly</a:t>
              </a:r>
            </a:p>
          </p:txBody>
        </p:sp>
        <p:sp>
          <p:nvSpPr>
            <p:cNvPr name="AutoShape 40" id="40"/>
            <p:cNvSpPr/>
            <p:nvPr/>
          </p:nvSpPr>
          <p:spPr>
            <a:xfrm flipH="true">
              <a:off x="5746431" y="521911"/>
              <a:ext cx="823890" cy="0"/>
            </a:xfrm>
            <a:prstGeom prst="line">
              <a:avLst/>
            </a:prstGeom>
            <a:ln cap="flat" w="42081">
              <a:solidFill>
                <a:srgbClr val="A74EFF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4192227" y="1025061"/>
              <a:ext cx="504126" cy="504126"/>
            </a:xfrm>
            <a:custGeom>
              <a:avLst/>
              <a:gdLst/>
              <a:ahLst/>
              <a:cxnLst/>
              <a:rect r="r" b="b" t="t" l="l"/>
              <a:pathLst>
                <a:path h="504126" w="504126">
                  <a:moveTo>
                    <a:pt x="0" y="0"/>
                  </a:moveTo>
                  <a:lnTo>
                    <a:pt x="504126" y="0"/>
                  </a:lnTo>
                  <a:lnTo>
                    <a:pt x="504126" y="504126"/>
                  </a:lnTo>
                  <a:lnTo>
                    <a:pt x="0" y="504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42" id="42"/>
            <p:cNvGrpSpPr/>
            <p:nvPr/>
          </p:nvGrpSpPr>
          <p:grpSpPr>
            <a:xfrm rot="0">
              <a:off x="3963902" y="725323"/>
              <a:ext cx="998736" cy="99873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C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4211207" y="972628"/>
              <a:ext cx="504126" cy="504126"/>
            </a:xfrm>
            <a:custGeom>
              <a:avLst/>
              <a:gdLst/>
              <a:ahLst/>
              <a:cxnLst/>
              <a:rect r="r" b="b" t="t" l="l"/>
              <a:pathLst>
                <a:path h="504126" w="504126">
                  <a:moveTo>
                    <a:pt x="0" y="0"/>
                  </a:moveTo>
                  <a:lnTo>
                    <a:pt x="504126" y="0"/>
                  </a:lnTo>
                  <a:lnTo>
                    <a:pt x="504126" y="504126"/>
                  </a:lnTo>
                  <a:lnTo>
                    <a:pt x="0" y="504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AutoShape 46" id="46"/>
            <p:cNvSpPr/>
            <p:nvPr/>
          </p:nvSpPr>
          <p:spPr>
            <a:xfrm flipH="true">
              <a:off x="5746155" y="2243688"/>
              <a:ext cx="1048232" cy="0"/>
            </a:xfrm>
            <a:prstGeom prst="line">
              <a:avLst/>
            </a:prstGeom>
            <a:ln cap="flat" w="42081">
              <a:solidFill>
                <a:srgbClr val="A74EFF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 flipV="true">
              <a:off x="5767442" y="521911"/>
              <a:ext cx="0" cy="1811896"/>
            </a:xfrm>
            <a:prstGeom prst="line">
              <a:avLst/>
            </a:prstGeom>
            <a:ln cap="flat" w="42081">
              <a:solidFill>
                <a:srgbClr val="A74EFF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>
              <a:off x="5788483" y="431792"/>
              <a:ext cx="0" cy="1811896"/>
            </a:xfrm>
            <a:prstGeom prst="line">
              <a:avLst/>
            </a:prstGeom>
            <a:ln cap="flat" w="42081">
              <a:solidFill>
                <a:srgbClr val="A74EFF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0">
              <a:off x="519921" y="3358892"/>
              <a:ext cx="2160098" cy="881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2"/>
                </a:lnSpc>
              </a:pPr>
              <a:r>
                <a:rPr lang="en-US" sz="1460" b="true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Enterprise</a:t>
              </a:r>
            </a:p>
            <a:p>
              <a:pPr algn="ctr">
                <a:lnSpc>
                  <a:spcPts val="1752"/>
                </a:lnSpc>
              </a:pPr>
              <a:r>
                <a:rPr lang="en-US" sz="1460" b="true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</a:t>
              </a:r>
            </a:p>
            <a:p>
              <a:pPr algn="ctr" marL="0" indent="0" lvl="0">
                <a:lnSpc>
                  <a:spcPts val="1752"/>
                </a:lnSpc>
                <a:spcBef>
                  <a:spcPct val="0"/>
                </a:spcBef>
              </a:pP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0" y="3960591"/>
              <a:ext cx="3231035" cy="259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5"/>
                </a:lnSpc>
              </a:pPr>
              <a:r>
                <a:rPr lang="en-US" sz="1188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OpenAI / Anthropic Payload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6281264" y="422267"/>
              <a:ext cx="2160098" cy="300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52"/>
                </a:lnSpc>
                <a:spcBef>
                  <a:spcPct val="0"/>
                </a:spcBef>
              </a:pPr>
              <a:r>
                <a:rPr lang="en-US" b="true" sz="1460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Client Buffer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6794387" y="2100906"/>
              <a:ext cx="2160098" cy="59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52"/>
                </a:lnSpc>
                <a:spcBef>
                  <a:spcPct val="0"/>
                </a:spcBef>
              </a:pPr>
              <a:r>
                <a:rPr lang="en-US" b="true" sz="1460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Redis Streams Bus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4954804" y="678525"/>
              <a:ext cx="3231035" cy="259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5"/>
                </a:lnSpc>
              </a:pPr>
              <a:r>
                <a:rPr lang="en-US" sz="1188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(Passthrough)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5064408" y="2369451"/>
              <a:ext cx="3231035" cy="259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5"/>
                </a:lnSpc>
              </a:pPr>
              <a:r>
                <a:rPr lang="en-US" sz="1188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(Fork via XADD)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028700" y="1338547"/>
            <a:ext cx="1201625" cy="1201625"/>
          </a:xfrm>
          <a:custGeom>
            <a:avLst/>
            <a:gdLst/>
            <a:ahLst/>
            <a:cxnLst/>
            <a:rect r="r" b="b" t="t" l="l"/>
            <a:pathLst>
              <a:path h="1201625" w="1201625">
                <a:moveTo>
                  <a:pt x="0" y="0"/>
                </a:moveTo>
                <a:lnTo>
                  <a:pt x="1201625" y="0"/>
                </a:lnTo>
                <a:lnTo>
                  <a:pt x="1201625" y="1201625"/>
                </a:lnTo>
                <a:lnTo>
                  <a:pt x="0" y="1201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6" id="56"/>
          <p:cNvGrpSpPr/>
          <p:nvPr/>
        </p:nvGrpSpPr>
        <p:grpSpPr>
          <a:xfrm rot="0">
            <a:off x="2819733" y="5572125"/>
            <a:ext cx="14974016" cy="3844619"/>
            <a:chOff x="0" y="0"/>
            <a:chExt cx="19965355" cy="5126159"/>
          </a:xfrm>
        </p:grpSpPr>
        <p:sp>
          <p:nvSpPr>
            <p:cNvPr name="AutoShape 57" id="57"/>
            <p:cNvSpPr/>
            <p:nvPr/>
          </p:nvSpPr>
          <p:spPr>
            <a:xfrm>
              <a:off x="2445484" y="2577324"/>
              <a:ext cx="15858741" cy="0"/>
            </a:xfrm>
            <a:prstGeom prst="line">
              <a:avLst/>
            </a:prstGeom>
            <a:ln cap="flat" w="42464">
              <a:solidFill>
                <a:srgbClr val="1E1E1E"/>
              </a:solidFill>
              <a:prstDash val="sysDash"/>
              <a:headEnd type="oval" len="lg" w="lg"/>
              <a:tailEnd type="arrow" len="sm" w="med"/>
            </a:ln>
          </p:spPr>
        </p:sp>
        <p:sp>
          <p:nvSpPr>
            <p:cNvPr name="Freeform 58" id="58"/>
            <p:cNvSpPr/>
            <p:nvPr/>
          </p:nvSpPr>
          <p:spPr>
            <a:xfrm flipH="false" flipV="true" rot="-5291935">
              <a:off x="10328193" y="874341"/>
              <a:ext cx="4551956" cy="3698464"/>
            </a:xfrm>
            <a:custGeom>
              <a:avLst/>
              <a:gdLst/>
              <a:ahLst/>
              <a:cxnLst/>
              <a:rect r="r" b="b" t="t" l="l"/>
              <a:pathLst>
                <a:path h="3698464" w="4551956">
                  <a:moveTo>
                    <a:pt x="0" y="3698464"/>
                  </a:moveTo>
                  <a:lnTo>
                    <a:pt x="4551956" y="3698464"/>
                  </a:lnTo>
                  <a:lnTo>
                    <a:pt x="4551956" y="0"/>
                  </a:lnTo>
                  <a:lnTo>
                    <a:pt x="0" y="0"/>
                  </a:lnTo>
                  <a:lnTo>
                    <a:pt x="0" y="3698464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-5400000">
              <a:off x="13299606" y="3617904"/>
              <a:ext cx="1330608" cy="1330608"/>
            </a:xfrm>
            <a:custGeom>
              <a:avLst/>
              <a:gdLst/>
              <a:ahLst/>
              <a:cxnLst/>
              <a:rect r="r" b="b" t="t" l="l"/>
              <a:pathLst>
                <a:path h="1330608" w="1330608">
                  <a:moveTo>
                    <a:pt x="0" y="0"/>
                  </a:moveTo>
                  <a:lnTo>
                    <a:pt x="1330609" y="0"/>
                  </a:lnTo>
                  <a:lnTo>
                    <a:pt x="1330609" y="1330608"/>
                  </a:lnTo>
                  <a:lnTo>
                    <a:pt x="0" y="133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alphaModFix amt="19999"/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60" id="60"/>
            <p:cNvGrpSpPr/>
            <p:nvPr/>
          </p:nvGrpSpPr>
          <p:grpSpPr>
            <a:xfrm rot="-5400000">
              <a:off x="13299606" y="3868473"/>
              <a:ext cx="1080039" cy="1080039"/>
              <a:chOff x="0" y="0"/>
              <a:chExt cx="812800" cy="8128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E71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1009" lIns="31009" bIns="31009" rIns="31009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Freeform 63" id="63"/>
            <p:cNvSpPr/>
            <p:nvPr/>
          </p:nvSpPr>
          <p:spPr>
            <a:xfrm flipH="false" flipV="false" rot="-5400000">
              <a:off x="13942007" y="1734242"/>
              <a:ext cx="1330608" cy="1330608"/>
            </a:xfrm>
            <a:custGeom>
              <a:avLst/>
              <a:gdLst/>
              <a:ahLst/>
              <a:cxnLst/>
              <a:rect r="r" b="b" t="t" l="l"/>
              <a:pathLst>
                <a:path h="1330608" w="1330608">
                  <a:moveTo>
                    <a:pt x="0" y="0"/>
                  </a:moveTo>
                  <a:lnTo>
                    <a:pt x="1330608" y="0"/>
                  </a:lnTo>
                  <a:lnTo>
                    <a:pt x="1330608" y="1330608"/>
                  </a:lnTo>
                  <a:lnTo>
                    <a:pt x="0" y="133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alphaModFix amt="19999"/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64" id="64"/>
            <p:cNvGrpSpPr/>
            <p:nvPr/>
          </p:nvGrpSpPr>
          <p:grpSpPr>
            <a:xfrm rot="-5400000">
              <a:off x="13965894" y="1985700"/>
              <a:ext cx="1080039" cy="1080039"/>
              <a:chOff x="0" y="0"/>
              <a:chExt cx="812800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EA5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1009" lIns="31009" bIns="31009" rIns="31009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Freeform 67" id="67"/>
            <p:cNvSpPr/>
            <p:nvPr/>
          </p:nvSpPr>
          <p:spPr>
            <a:xfrm flipH="false" flipV="false" rot="-5400000">
              <a:off x="12861967" y="5108"/>
              <a:ext cx="1330608" cy="1330608"/>
            </a:xfrm>
            <a:custGeom>
              <a:avLst/>
              <a:gdLst/>
              <a:ahLst/>
              <a:cxnLst/>
              <a:rect r="r" b="b" t="t" l="l"/>
              <a:pathLst>
                <a:path h="1330608" w="1330608">
                  <a:moveTo>
                    <a:pt x="0" y="0"/>
                  </a:moveTo>
                  <a:lnTo>
                    <a:pt x="1330609" y="0"/>
                  </a:lnTo>
                  <a:lnTo>
                    <a:pt x="1330609" y="1330608"/>
                  </a:lnTo>
                  <a:lnTo>
                    <a:pt x="0" y="133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alphaModFix amt="19999"/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68" id="68"/>
            <p:cNvGrpSpPr/>
            <p:nvPr/>
          </p:nvGrpSpPr>
          <p:grpSpPr>
            <a:xfrm rot="-5400000">
              <a:off x="12861967" y="255677"/>
              <a:ext cx="1080039" cy="1080039"/>
              <a:chOff x="0" y="0"/>
              <a:chExt cx="812800" cy="8128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14E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1009" lIns="31009" bIns="31009" rIns="31009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9893208" y="1486231"/>
              <a:ext cx="1239884" cy="1239884"/>
              <a:chOff x="0" y="0"/>
              <a:chExt cx="558800" cy="5588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0" y="558800"/>
                    </a:moveTo>
                    <a:cubicBezTo>
                      <a:pt x="0" y="411634"/>
                      <a:pt x="59606" y="267731"/>
                      <a:pt x="163669" y="163669"/>
                    </a:cubicBezTo>
                    <a:cubicBezTo>
                      <a:pt x="267731" y="59606"/>
                      <a:pt x="411634" y="0"/>
                      <a:pt x="558800" y="0"/>
                    </a:cubicBezTo>
                    <a:lnTo>
                      <a:pt x="558800" y="285081"/>
                    </a:lnTo>
                    <a:cubicBezTo>
                      <a:pt x="486712" y="285081"/>
                      <a:pt x="416225" y="314278"/>
                      <a:pt x="365251" y="365251"/>
                    </a:cubicBezTo>
                    <a:cubicBezTo>
                      <a:pt x="314278" y="416225"/>
                      <a:pt x="285081" y="486712"/>
                      <a:pt x="285081" y="558800"/>
                    </a:cubicBezTo>
                    <a:lnTo>
                      <a:pt x="0" y="558800"/>
                    </a:lnTo>
                    <a:close/>
                  </a:path>
                </a:pathLst>
              </a:custGeom>
              <a:solidFill>
                <a:srgbClr val="EBD8FF"/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127000" y="88900"/>
                <a:ext cx="304800" cy="34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4" id="74"/>
            <p:cNvSpPr/>
            <p:nvPr/>
          </p:nvSpPr>
          <p:spPr>
            <a:xfrm flipH="false" flipV="false" rot="0">
              <a:off x="10316805" y="1906972"/>
              <a:ext cx="1529696" cy="1307890"/>
            </a:xfrm>
            <a:custGeom>
              <a:avLst/>
              <a:gdLst/>
              <a:ahLst/>
              <a:cxnLst/>
              <a:rect r="r" b="b" t="t" l="l"/>
              <a:pathLst>
                <a:path h="1307890" w="1529696">
                  <a:moveTo>
                    <a:pt x="0" y="0"/>
                  </a:moveTo>
                  <a:lnTo>
                    <a:pt x="1529696" y="0"/>
                  </a:lnTo>
                  <a:lnTo>
                    <a:pt x="1529696" y="1307889"/>
                  </a:lnTo>
                  <a:lnTo>
                    <a:pt x="0" y="1307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75" id="75"/>
            <p:cNvGrpSpPr/>
            <p:nvPr/>
          </p:nvGrpSpPr>
          <p:grpSpPr>
            <a:xfrm rot="0">
              <a:off x="6779733" y="1486231"/>
              <a:ext cx="1239884" cy="1239884"/>
              <a:chOff x="0" y="0"/>
              <a:chExt cx="558800" cy="5588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0" y="558800"/>
                    </a:moveTo>
                    <a:cubicBezTo>
                      <a:pt x="0" y="411634"/>
                      <a:pt x="59606" y="267731"/>
                      <a:pt x="163669" y="163669"/>
                    </a:cubicBezTo>
                    <a:cubicBezTo>
                      <a:pt x="267731" y="59606"/>
                      <a:pt x="411634" y="0"/>
                      <a:pt x="558800" y="0"/>
                    </a:cubicBezTo>
                    <a:lnTo>
                      <a:pt x="558800" y="285081"/>
                    </a:lnTo>
                    <a:cubicBezTo>
                      <a:pt x="486712" y="285081"/>
                      <a:pt x="416225" y="314278"/>
                      <a:pt x="365251" y="365251"/>
                    </a:cubicBezTo>
                    <a:cubicBezTo>
                      <a:pt x="314278" y="416225"/>
                      <a:pt x="285081" y="486712"/>
                      <a:pt x="285081" y="558800"/>
                    </a:cubicBezTo>
                    <a:lnTo>
                      <a:pt x="0" y="558800"/>
                    </a:lnTo>
                    <a:close/>
                  </a:path>
                </a:pathLst>
              </a:custGeom>
              <a:solidFill>
                <a:srgbClr val="E2D6FF"/>
              </a:solid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127000" y="88900"/>
                <a:ext cx="304800" cy="34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8" id="78"/>
            <p:cNvSpPr/>
            <p:nvPr/>
          </p:nvSpPr>
          <p:spPr>
            <a:xfrm flipH="false" flipV="false" rot="0">
              <a:off x="7203330" y="1906972"/>
              <a:ext cx="1529696" cy="1307890"/>
            </a:xfrm>
            <a:custGeom>
              <a:avLst/>
              <a:gdLst/>
              <a:ahLst/>
              <a:cxnLst/>
              <a:rect r="r" b="b" t="t" l="l"/>
              <a:pathLst>
                <a:path h="1307890" w="1529696">
                  <a:moveTo>
                    <a:pt x="0" y="0"/>
                  </a:moveTo>
                  <a:lnTo>
                    <a:pt x="1529696" y="0"/>
                  </a:lnTo>
                  <a:lnTo>
                    <a:pt x="1529696" y="1307889"/>
                  </a:lnTo>
                  <a:lnTo>
                    <a:pt x="0" y="1307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7601769" y="2245912"/>
              <a:ext cx="603999" cy="662825"/>
            </a:xfrm>
            <a:custGeom>
              <a:avLst/>
              <a:gdLst/>
              <a:ahLst/>
              <a:cxnLst/>
              <a:rect r="r" b="b" t="t" l="l"/>
              <a:pathLst>
                <a:path h="662825" w="603999">
                  <a:moveTo>
                    <a:pt x="0" y="0"/>
                  </a:moveTo>
                  <a:lnTo>
                    <a:pt x="603999" y="0"/>
                  </a:lnTo>
                  <a:lnTo>
                    <a:pt x="603999" y="662825"/>
                  </a:lnTo>
                  <a:lnTo>
                    <a:pt x="0" y="66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 rot="0">
              <a:off x="6642659" y="3377478"/>
              <a:ext cx="2631071" cy="604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6"/>
                </a:lnSpc>
                <a:spcBef>
                  <a:spcPct val="0"/>
                </a:spcBef>
              </a:pPr>
              <a:r>
                <a:rPr lang="en-US" b="true" sz="1472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Governance &amp; Policy Layer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6487085" y="4045616"/>
              <a:ext cx="2942219" cy="5178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9"/>
                </a:lnSpc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Configures rules by geography/use case</a:t>
              </a:r>
            </a:p>
          </p:txBody>
        </p:sp>
        <p:sp>
          <p:nvSpPr>
            <p:cNvPr name="Freeform 82" id="82"/>
            <p:cNvSpPr/>
            <p:nvPr/>
          </p:nvSpPr>
          <p:spPr>
            <a:xfrm flipH="false" flipV="true" rot="-5291935">
              <a:off x="-356127" y="869234"/>
              <a:ext cx="4551956" cy="3698464"/>
            </a:xfrm>
            <a:custGeom>
              <a:avLst/>
              <a:gdLst/>
              <a:ahLst/>
              <a:cxnLst/>
              <a:rect r="r" b="b" t="t" l="l"/>
              <a:pathLst>
                <a:path h="3698464" w="4551956">
                  <a:moveTo>
                    <a:pt x="0" y="3698464"/>
                  </a:moveTo>
                  <a:lnTo>
                    <a:pt x="4551956" y="3698464"/>
                  </a:lnTo>
                  <a:lnTo>
                    <a:pt x="4551956" y="0"/>
                  </a:lnTo>
                  <a:lnTo>
                    <a:pt x="0" y="0"/>
                  </a:lnTo>
                  <a:lnTo>
                    <a:pt x="0" y="3698464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3" id="83"/>
            <p:cNvSpPr/>
            <p:nvPr/>
          </p:nvSpPr>
          <p:spPr>
            <a:xfrm flipH="false" flipV="false" rot="-5400000">
              <a:off x="2615287" y="3612796"/>
              <a:ext cx="1330608" cy="1330608"/>
            </a:xfrm>
            <a:custGeom>
              <a:avLst/>
              <a:gdLst/>
              <a:ahLst/>
              <a:cxnLst/>
              <a:rect r="r" b="b" t="t" l="l"/>
              <a:pathLst>
                <a:path h="1330608" w="1330608">
                  <a:moveTo>
                    <a:pt x="0" y="0"/>
                  </a:moveTo>
                  <a:lnTo>
                    <a:pt x="1330608" y="0"/>
                  </a:lnTo>
                  <a:lnTo>
                    <a:pt x="1330608" y="1330608"/>
                  </a:lnTo>
                  <a:lnTo>
                    <a:pt x="0" y="133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alphaModFix amt="19999"/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84" id="84"/>
            <p:cNvGrpSpPr/>
            <p:nvPr/>
          </p:nvGrpSpPr>
          <p:grpSpPr>
            <a:xfrm rot="-5400000">
              <a:off x="2615287" y="3863365"/>
              <a:ext cx="1080039" cy="1080039"/>
              <a:chOff x="0" y="0"/>
              <a:chExt cx="812800" cy="812800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E71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1009" lIns="31009" bIns="31009" rIns="31009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Freeform 87" id="87"/>
            <p:cNvSpPr/>
            <p:nvPr/>
          </p:nvSpPr>
          <p:spPr>
            <a:xfrm flipH="false" flipV="false" rot="-5400000">
              <a:off x="3257687" y="1729134"/>
              <a:ext cx="1330608" cy="1330608"/>
            </a:xfrm>
            <a:custGeom>
              <a:avLst/>
              <a:gdLst/>
              <a:ahLst/>
              <a:cxnLst/>
              <a:rect r="r" b="b" t="t" l="l"/>
              <a:pathLst>
                <a:path h="1330608" w="1330608">
                  <a:moveTo>
                    <a:pt x="0" y="0"/>
                  </a:moveTo>
                  <a:lnTo>
                    <a:pt x="1330608" y="0"/>
                  </a:lnTo>
                  <a:lnTo>
                    <a:pt x="1330608" y="1330609"/>
                  </a:lnTo>
                  <a:lnTo>
                    <a:pt x="0" y="1330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alphaModFix amt="19999"/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88" id="88"/>
            <p:cNvGrpSpPr/>
            <p:nvPr/>
          </p:nvGrpSpPr>
          <p:grpSpPr>
            <a:xfrm rot="-5400000">
              <a:off x="3281574" y="1980592"/>
              <a:ext cx="1080039" cy="1080039"/>
              <a:chOff x="0" y="0"/>
              <a:chExt cx="812800" cy="8128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EA5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1009" lIns="31009" bIns="31009" rIns="31009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Freeform 91" id="91"/>
            <p:cNvSpPr/>
            <p:nvPr/>
          </p:nvSpPr>
          <p:spPr>
            <a:xfrm flipH="false" flipV="false" rot="-5400000">
              <a:off x="2177648" y="0"/>
              <a:ext cx="1330608" cy="1330608"/>
            </a:xfrm>
            <a:custGeom>
              <a:avLst/>
              <a:gdLst/>
              <a:ahLst/>
              <a:cxnLst/>
              <a:rect r="r" b="b" t="t" l="l"/>
              <a:pathLst>
                <a:path h="1330608" w="1330608">
                  <a:moveTo>
                    <a:pt x="0" y="0"/>
                  </a:moveTo>
                  <a:lnTo>
                    <a:pt x="1330608" y="0"/>
                  </a:lnTo>
                  <a:lnTo>
                    <a:pt x="1330608" y="1330608"/>
                  </a:lnTo>
                  <a:lnTo>
                    <a:pt x="0" y="133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alphaModFix amt="19999"/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92" id="92"/>
            <p:cNvGrpSpPr/>
            <p:nvPr/>
          </p:nvGrpSpPr>
          <p:grpSpPr>
            <a:xfrm rot="-5400000">
              <a:off x="2177648" y="250569"/>
              <a:ext cx="1080039" cy="1080039"/>
              <a:chOff x="0" y="0"/>
              <a:chExt cx="812800" cy="81280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14E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1009" lIns="31009" bIns="31009" rIns="31009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Freeform 95" id="95"/>
            <p:cNvSpPr/>
            <p:nvPr/>
          </p:nvSpPr>
          <p:spPr>
            <a:xfrm flipH="false" flipV="false" rot="187882">
              <a:off x="2910585" y="4137869"/>
              <a:ext cx="518419" cy="531031"/>
            </a:xfrm>
            <a:custGeom>
              <a:avLst/>
              <a:gdLst/>
              <a:ahLst/>
              <a:cxnLst/>
              <a:rect r="r" b="b" t="t" l="l"/>
              <a:pathLst>
                <a:path h="531031" w="518419">
                  <a:moveTo>
                    <a:pt x="0" y="0"/>
                  </a:moveTo>
                  <a:lnTo>
                    <a:pt x="518419" y="0"/>
                  </a:lnTo>
                  <a:lnTo>
                    <a:pt x="518419" y="531031"/>
                  </a:lnTo>
                  <a:lnTo>
                    <a:pt x="0" y="531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6" id="96"/>
            <p:cNvSpPr/>
            <p:nvPr/>
          </p:nvSpPr>
          <p:spPr>
            <a:xfrm flipH="false" flipV="false" rot="132345">
              <a:off x="3580492" y="2261402"/>
              <a:ext cx="518419" cy="518419"/>
            </a:xfrm>
            <a:custGeom>
              <a:avLst/>
              <a:gdLst/>
              <a:ahLst/>
              <a:cxnLst/>
              <a:rect r="r" b="b" t="t" l="l"/>
              <a:pathLst>
                <a:path h="518419" w="518419">
                  <a:moveTo>
                    <a:pt x="0" y="0"/>
                  </a:moveTo>
                  <a:lnTo>
                    <a:pt x="518419" y="0"/>
                  </a:lnTo>
                  <a:lnTo>
                    <a:pt x="518419" y="518419"/>
                  </a:lnTo>
                  <a:lnTo>
                    <a:pt x="0" y="518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7" id="97"/>
            <p:cNvSpPr/>
            <p:nvPr/>
          </p:nvSpPr>
          <p:spPr>
            <a:xfrm flipH="false" flipV="false" rot="178095">
              <a:off x="2458458" y="541964"/>
              <a:ext cx="518419" cy="514531"/>
            </a:xfrm>
            <a:custGeom>
              <a:avLst/>
              <a:gdLst/>
              <a:ahLst/>
              <a:cxnLst/>
              <a:rect r="r" b="b" t="t" l="l"/>
              <a:pathLst>
                <a:path h="514531" w="518419">
                  <a:moveTo>
                    <a:pt x="0" y="0"/>
                  </a:moveTo>
                  <a:lnTo>
                    <a:pt x="518419" y="0"/>
                  </a:lnTo>
                  <a:lnTo>
                    <a:pt x="518419" y="514531"/>
                  </a:lnTo>
                  <a:lnTo>
                    <a:pt x="0" y="514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 rot="0">
              <a:off x="3558600" y="3971045"/>
              <a:ext cx="2842937" cy="306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6"/>
                </a:lnSpc>
                <a:spcBef>
                  <a:spcPct val="0"/>
                </a:spcBef>
              </a:pPr>
              <a:r>
                <a:rPr lang="en-US" b="true" sz="1472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Performance Agent</a:t>
              </a:r>
            </a:p>
          </p:txBody>
        </p:sp>
        <p:sp>
          <p:nvSpPr>
            <p:cNvPr name="TextBox 99" id="99"/>
            <p:cNvSpPr txBox="true"/>
            <p:nvPr/>
          </p:nvSpPr>
          <p:spPr>
            <a:xfrm rot="0">
              <a:off x="3753825" y="4249243"/>
              <a:ext cx="2084375" cy="5178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259079" indent="-129539" lvl="1">
                <a:lnSpc>
                  <a:spcPts val="1559"/>
                </a:lnSpc>
                <a:buFont typeface="Arial"/>
                <a:buChar char="•"/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Grounding Checks</a:t>
              </a:r>
            </a:p>
            <a:p>
              <a:pPr algn="ctr" marL="259079" indent="-129539" lvl="1">
                <a:lnSpc>
                  <a:spcPts val="1559"/>
                </a:lnSpc>
                <a:buFont typeface="Arial"/>
                <a:buChar char="•"/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Hallucination Risk</a:t>
              </a:r>
            </a:p>
          </p:txBody>
        </p:sp>
        <p:sp>
          <p:nvSpPr>
            <p:cNvPr name="TextBox 100" id="100"/>
            <p:cNvSpPr txBox="true"/>
            <p:nvPr/>
          </p:nvSpPr>
          <p:spPr>
            <a:xfrm rot="0">
              <a:off x="3445116" y="216989"/>
              <a:ext cx="2842937" cy="306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66"/>
                </a:lnSpc>
                <a:spcBef>
                  <a:spcPct val="0"/>
                </a:spcBef>
              </a:pPr>
              <a:r>
                <a:rPr lang="en-US" b="true" sz="1472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Responsibilty Agent</a:t>
              </a:r>
            </a:p>
          </p:txBody>
        </p:sp>
        <p:sp>
          <p:nvSpPr>
            <p:cNvPr name="TextBox 101" id="101"/>
            <p:cNvSpPr txBox="true"/>
            <p:nvPr/>
          </p:nvSpPr>
          <p:spPr>
            <a:xfrm rot="0">
              <a:off x="3399761" y="546788"/>
              <a:ext cx="2209059" cy="5178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59079" indent="-129539" lvl="1">
                <a:lnSpc>
                  <a:spcPts val="1559"/>
                </a:lnSpc>
                <a:buFont typeface="Arial"/>
                <a:buChar char="•"/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Deep PII Scanning </a:t>
              </a:r>
            </a:p>
            <a:p>
              <a:pPr algn="l" marL="259079" indent="-129539" lvl="1">
                <a:lnSpc>
                  <a:spcPts val="1559"/>
                </a:lnSpc>
                <a:buFont typeface="Arial"/>
                <a:buChar char="•"/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Toxicity Classifiers</a:t>
              </a:r>
            </a:p>
          </p:txBody>
        </p:sp>
        <p:sp>
          <p:nvSpPr>
            <p:cNvPr name="TextBox 102" id="102"/>
            <p:cNvSpPr txBox="true"/>
            <p:nvPr/>
          </p:nvSpPr>
          <p:spPr>
            <a:xfrm rot="0">
              <a:off x="3644148" y="2180555"/>
              <a:ext cx="2842937" cy="306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6"/>
                </a:lnSpc>
                <a:spcBef>
                  <a:spcPct val="0"/>
                </a:spcBef>
              </a:pPr>
              <a:r>
                <a:rPr lang="en-US" b="true" sz="1472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Cost Agent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4209901" y="2601837"/>
              <a:ext cx="3021669" cy="5178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59079" indent="-129539" lvl="1">
                <a:lnSpc>
                  <a:spcPts val="1559"/>
                </a:lnSpc>
                <a:buFont typeface="Arial"/>
                <a:buChar char="•"/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Token Tracking</a:t>
              </a:r>
            </a:p>
            <a:p>
              <a:pPr algn="l" marL="259079" indent="-129539" lvl="1">
                <a:lnSpc>
                  <a:spcPts val="1559"/>
                </a:lnSpc>
                <a:buFont typeface="Arial"/>
                <a:buChar char="•"/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Budget Burn Rate</a:t>
              </a:r>
            </a:p>
          </p:txBody>
        </p:sp>
        <p:sp>
          <p:nvSpPr>
            <p:cNvPr name="TextBox 104" id="104"/>
            <p:cNvSpPr txBox="true"/>
            <p:nvPr/>
          </p:nvSpPr>
          <p:spPr>
            <a:xfrm rot="0">
              <a:off x="9571475" y="3337753"/>
              <a:ext cx="2631071" cy="604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6"/>
                </a:lnSpc>
                <a:spcBef>
                  <a:spcPct val="0"/>
                </a:spcBef>
              </a:pPr>
              <a:r>
                <a:rPr lang="en-US" b="true" sz="1472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Dynamic Action Engine</a:t>
              </a:r>
            </a:p>
          </p:txBody>
        </p:sp>
        <p:sp>
          <p:nvSpPr>
            <p:cNvPr name="TextBox 105" id="105"/>
            <p:cNvSpPr txBox="true"/>
            <p:nvPr/>
          </p:nvSpPr>
          <p:spPr>
            <a:xfrm rot="0">
              <a:off x="9571475" y="4045616"/>
              <a:ext cx="2942219" cy="5178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9"/>
                </a:lnSpc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Assigns confidence scores to anomalies</a:t>
              </a:r>
            </a:p>
          </p:txBody>
        </p:sp>
        <p:sp>
          <p:nvSpPr>
            <p:cNvPr name="Freeform 106" id="106"/>
            <p:cNvSpPr/>
            <p:nvPr/>
          </p:nvSpPr>
          <p:spPr>
            <a:xfrm flipH="false" flipV="false" rot="0">
              <a:off x="14083554" y="2087058"/>
              <a:ext cx="867107" cy="867107"/>
            </a:xfrm>
            <a:custGeom>
              <a:avLst/>
              <a:gdLst/>
              <a:ahLst/>
              <a:cxnLst/>
              <a:rect r="r" b="b" t="t" l="l"/>
              <a:pathLst>
                <a:path h="867107" w="867107">
                  <a:moveTo>
                    <a:pt x="0" y="0"/>
                  </a:moveTo>
                  <a:lnTo>
                    <a:pt x="867107" y="0"/>
                  </a:lnTo>
                  <a:lnTo>
                    <a:pt x="867107" y="867107"/>
                  </a:lnTo>
                  <a:lnTo>
                    <a:pt x="0" y="867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0" b="0"/>
              </a:stretch>
            </a:blip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13142230" y="535939"/>
              <a:ext cx="519515" cy="519515"/>
            </a:xfrm>
            <a:custGeom>
              <a:avLst/>
              <a:gdLst/>
              <a:ahLst/>
              <a:cxnLst/>
              <a:rect r="r" b="b" t="t" l="l"/>
              <a:pathLst>
                <a:path h="519515" w="519515">
                  <a:moveTo>
                    <a:pt x="0" y="0"/>
                  </a:moveTo>
                  <a:lnTo>
                    <a:pt x="519515" y="0"/>
                  </a:lnTo>
                  <a:lnTo>
                    <a:pt x="519515" y="519515"/>
                  </a:lnTo>
                  <a:lnTo>
                    <a:pt x="0" y="519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13544507" y="4113373"/>
              <a:ext cx="590239" cy="590239"/>
            </a:xfrm>
            <a:custGeom>
              <a:avLst/>
              <a:gdLst/>
              <a:ahLst/>
              <a:cxnLst/>
              <a:rect r="r" b="b" t="t" l="l"/>
              <a:pathLst>
                <a:path h="590239" w="590239">
                  <a:moveTo>
                    <a:pt x="0" y="0"/>
                  </a:moveTo>
                  <a:lnTo>
                    <a:pt x="590239" y="0"/>
                  </a:lnTo>
                  <a:lnTo>
                    <a:pt x="590239" y="590239"/>
                  </a:lnTo>
                  <a:lnTo>
                    <a:pt x="0" y="590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 rot="0">
              <a:off x="13376184" y="4047043"/>
              <a:ext cx="2842937" cy="306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6"/>
                </a:lnSpc>
                <a:spcBef>
                  <a:spcPct val="0"/>
                </a:spcBef>
              </a:pPr>
              <a:r>
                <a:rPr lang="en-US" b="true" sz="1472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Block</a:t>
              </a:r>
            </a:p>
          </p:txBody>
        </p:sp>
        <p:sp>
          <p:nvSpPr>
            <p:cNvPr name="TextBox 110" id="110"/>
            <p:cNvSpPr txBox="true"/>
            <p:nvPr/>
          </p:nvSpPr>
          <p:spPr>
            <a:xfrm rot="0">
              <a:off x="14230428" y="4353550"/>
              <a:ext cx="2757135" cy="772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59079" indent="-129539" lvl="1">
                <a:lnSpc>
                  <a:spcPts val="1559"/>
                </a:lnSpc>
                <a:buFont typeface="Arial"/>
                <a:buChar char="•"/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Escalate &amp; Log</a:t>
              </a:r>
            </a:p>
            <a:p>
              <a:pPr algn="l" marL="259079" indent="-129539" lvl="1">
                <a:lnSpc>
                  <a:spcPts val="1559"/>
                </a:lnSpc>
                <a:buFont typeface="Arial"/>
                <a:buChar char="•"/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Users download detailed report</a:t>
              </a:r>
            </a:p>
          </p:txBody>
        </p:sp>
        <p:sp>
          <p:nvSpPr>
            <p:cNvPr name="TextBox 111" id="111"/>
            <p:cNvSpPr txBox="true"/>
            <p:nvPr/>
          </p:nvSpPr>
          <p:spPr>
            <a:xfrm rot="0">
              <a:off x="15141618" y="2180555"/>
              <a:ext cx="2842937" cy="306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66"/>
                </a:lnSpc>
                <a:spcBef>
                  <a:spcPct val="0"/>
                </a:spcBef>
              </a:pPr>
              <a:r>
                <a:rPr lang="en-US" b="true" sz="1472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Allow</a:t>
              </a:r>
            </a:p>
          </p:txBody>
        </p:sp>
        <p:sp>
          <p:nvSpPr>
            <p:cNvPr name="TextBox 112" id="112"/>
            <p:cNvSpPr txBox="true"/>
            <p:nvPr/>
          </p:nvSpPr>
          <p:spPr>
            <a:xfrm rot="0">
              <a:off x="15114591" y="2622690"/>
              <a:ext cx="2209059" cy="263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Pass-through</a:t>
              </a:r>
            </a:p>
          </p:txBody>
        </p:sp>
        <p:sp>
          <p:nvSpPr>
            <p:cNvPr name="TextBox 113" id="113"/>
            <p:cNvSpPr txBox="true"/>
            <p:nvPr/>
          </p:nvSpPr>
          <p:spPr>
            <a:xfrm rot="0">
              <a:off x="12861967" y="357877"/>
              <a:ext cx="2842937" cy="306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6"/>
                </a:lnSpc>
                <a:spcBef>
                  <a:spcPct val="0"/>
                </a:spcBef>
              </a:pPr>
              <a:r>
                <a:rPr lang="en-US" b="true" sz="1472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Edit</a:t>
              </a:r>
            </a:p>
          </p:txBody>
        </p:sp>
        <p:sp>
          <p:nvSpPr>
            <p:cNvPr name="TextBox 114" id="114"/>
            <p:cNvSpPr txBox="true"/>
            <p:nvPr/>
          </p:nvSpPr>
          <p:spPr>
            <a:xfrm rot="0">
              <a:off x="14083554" y="664385"/>
              <a:ext cx="3021669" cy="263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Inline Mask</a:t>
              </a:r>
            </a:p>
          </p:txBody>
        </p:sp>
        <p:sp>
          <p:nvSpPr>
            <p:cNvPr name="Freeform 115" id="115"/>
            <p:cNvSpPr/>
            <p:nvPr/>
          </p:nvSpPr>
          <p:spPr>
            <a:xfrm flipH="false" flipV="false" rot="0">
              <a:off x="10478564" y="2116259"/>
              <a:ext cx="926053" cy="893641"/>
            </a:xfrm>
            <a:custGeom>
              <a:avLst/>
              <a:gdLst/>
              <a:ahLst/>
              <a:cxnLst/>
              <a:rect r="r" b="b" t="t" l="l"/>
              <a:pathLst>
                <a:path h="893641" w="926053">
                  <a:moveTo>
                    <a:pt x="0" y="0"/>
                  </a:moveTo>
                  <a:lnTo>
                    <a:pt x="926053" y="0"/>
                  </a:lnTo>
                  <a:lnTo>
                    <a:pt x="926053" y="893641"/>
                  </a:lnTo>
                  <a:lnTo>
                    <a:pt x="0" y="893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6" id="116"/>
            <p:cNvGrpSpPr/>
            <p:nvPr/>
          </p:nvGrpSpPr>
          <p:grpSpPr>
            <a:xfrm rot="0">
              <a:off x="16990355" y="1489218"/>
              <a:ext cx="1278494" cy="1278494"/>
              <a:chOff x="0" y="0"/>
              <a:chExt cx="558800" cy="558800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0" y="558800"/>
                    </a:moveTo>
                    <a:cubicBezTo>
                      <a:pt x="0" y="411634"/>
                      <a:pt x="59606" y="267731"/>
                      <a:pt x="163669" y="163669"/>
                    </a:cubicBezTo>
                    <a:cubicBezTo>
                      <a:pt x="267731" y="59606"/>
                      <a:pt x="411634" y="0"/>
                      <a:pt x="558800" y="0"/>
                    </a:cubicBezTo>
                    <a:lnTo>
                      <a:pt x="558800" y="285081"/>
                    </a:lnTo>
                    <a:cubicBezTo>
                      <a:pt x="486712" y="285081"/>
                      <a:pt x="416225" y="314278"/>
                      <a:pt x="365251" y="365251"/>
                    </a:cubicBezTo>
                    <a:cubicBezTo>
                      <a:pt x="314278" y="416225"/>
                      <a:pt x="285081" y="486712"/>
                      <a:pt x="285081" y="558800"/>
                    </a:cubicBezTo>
                    <a:lnTo>
                      <a:pt x="0" y="558800"/>
                    </a:lnTo>
                    <a:close/>
                  </a:path>
                </a:pathLst>
              </a:custGeom>
              <a:solidFill>
                <a:srgbClr val="D7EAFF"/>
              </a:solidFill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127000" y="88900"/>
                <a:ext cx="304800" cy="342900"/>
              </a:xfrm>
              <a:prstGeom prst="rect">
                <a:avLst/>
              </a:prstGeom>
            </p:spPr>
            <p:txBody>
              <a:bodyPr anchor="ctr" rtlCol="false" tIns="27940" lIns="27940" bIns="27940" rIns="2794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9" id="119"/>
            <p:cNvSpPr/>
            <p:nvPr/>
          </p:nvSpPr>
          <p:spPr>
            <a:xfrm flipH="false" flipV="false" rot="0">
              <a:off x="17427143" y="1923060"/>
              <a:ext cx="1577331" cy="1348618"/>
            </a:xfrm>
            <a:custGeom>
              <a:avLst/>
              <a:gdLst/>
              <a:ahLst/>
              <a:cxnLst/>
              <a:rect r="r" b="b" t="t" l="l"/>
              <a:pathLst>
                <a:path h="1348618" w="1577331">
                  <a:moveTo>
                    <a:pt x="0" y="0"/>
                  </a:moveTo>
                  <a:lnTo>
                    <a:pt x="1577331" y="0"/>
                  </a:lnTo>
                  <a:lnTo>
                    <a:pt x="1577331" y="1348618"/>
                  </a:lnTo>
                  <a:lnTo>
                    <a:pt x="0" y="1348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17789057" y="2295697"/>
              <a:ext cx="622808" cy="618916"/>
            </a:xfrm>
            <a:custGeom>
              <a:avLst/>
              <a:gdLst/>
              <a:ahLst/>
              <a:cxnLst/>
              <a:rect r="r" b="b" t="t" l="l"/>
              <a:pathLst>
                <a:path h="618916" w="622808">
                  <a:moveTo>
                    <a:pt x="0" y="0"/>
                  </a:moveTo>
                  <a:lnTo>
                    <a:pt x="622808" y="0"/>
                  </a:lnTo>
                  <a:lnTo>
                    <a:pt x="622808" y="618915"/>
                  </a:lnTo>
                  <a:lnTo>
                    <a:pt x="0" y="618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1" id="121"/>
            <p:cNvSpPr/>
            <p:nvPr/>
          </p:nvSpPr>
          <p:spPr>
            <a:xfrm flipH="false" flipV="false" rot="10697589">
              <a:off x="17302369" y="1836464"/>
              <a:ext cx="772196" cy="1544391"/>
            </a:xfrm>
            <a:custGeom>
              <a:avLst/>
              <a:gdLst/>
              <a:ahLst/>
              <a:cxnLst/>
              <a:rect r="r" b="b" t="t" l="l"/>
              <a:pathLst>
                <a:path h="1544391" w="772196">
                  <a:moveTo>
                    <a:pt x="0" y="0"/>
                  </a:moveTo>
                  <a:lnTo>
                    <a:pt x="772195" y="0"/>
                  </a:lnTo>
                  <a:lnTo>
                    <a:pt x="772195" y="1544391"/>
                  </a:lnTo>
                  <a:lnTo>
                    <a:pt x="0" y="1544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 rot="0">
              <a:off x="17000163" y="3382487"/>
              <a:ext cx="2631071" cy="604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6"/>
                </a:lnSpc>
                <a:spcBef>
                  <a:spcPct val="0"/>
                </a:spcBef>
              </a:pPr>
              <a:r>
                <a:rPr lang="en-US" b="true" sz="1472">
                  <a:solidFill>
                    <a:srgbClr val="1E1E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Continuous Feedback Loop</a:t>
              </a:r>
            </a:p>
          </p:txBody>
        </p:sp>
        <p:sp>
          <p:nvSpPr>
            <p:cNvPr name="TextBox 123" id="123"/>
            <p:cNvSpPr txBox="true"/>
            <p:nvPr/>
          </p:nvSpPr>
          <p:spPr>
            <a:xfrm rot="0">
              <a:off x="17023136" y="4077223"/>
              <a:ext cx="2942219" cy="5178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9"/>
                </a:lnSpc>
              </a:pPr>
              <a:r>
                <a:rPr lang="en-US" sz="1199">
                  <a:solidFill>
                    <a:srgbClr val="737373"/>
                  </a:solidFill>
                  <a:latin typeface="Arial"/>
                  <a:ea typeface="Arial"/>
                  <a:cs typeface="Arial"/>
                  <a:sym typeface="Arial"/>
                </a:rPr>
                <a:t>Routes human overrides to improve detection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484623" y="5136802"/>
            <a:ext cx="3070940" cy="4193772"/>
            <a:chOff x="0" y="0"/>
            <a:chExt cx="808807" cy="110453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08807" cy="1104533"/>
            </a:xfrm>
            <a:custGeom>
              <a:avLst/>
              <a:gdLst/>
              <a:ahLst/>
              <a:cxnLst/>
              <a:rect r="r" b="b" t="t" l="l"/>
              <a:pathLst>
                <a:path h="1104533" w="808807">
                  <a:moveTo>
                    <a:pt x="60505" y="0"/>
                  </a:moveTo>
                  <a:lnTo>
                    <a:pt x="748303" y="0"/>
                  </a:lnTo>
                  <a:cubicBezTo>
                    <a:pt x="781718" y="0"/>
                    <a:pt x="808807" y="27089"/>
                    <a:pt x="808807" y="60505"/>
                  </a:cubicBezTo>
                  <a:lnTo>
                    <a:pt x="808807" y="1044028"/>
                  </a:lnTo>
                  <a:cubicBezTo>
                    <a:pt x="808807" y="1060075"/>
                    <a:pt x="802433" y="1075464"/>
                    <a:pt x="791086" y="1086811"/>
                  </a:cubicBezTo>
                  <a:cubicBezTo>
                    <a:pt x="779739" y="1098158"/>
                    <a:pt x="764349" y="1104533"/>
                    <a:pt x="748303" y="1104533"/>
                  </a:cubicBezTo>
                  <a:lnTo>
                    <a:pt x="60505" y="1104533"/>
                  </a:lnTo>
                  <a:cubicBezTo>
                    <a:pt x="44458" y="1104533"/>
                    <a:pt x="29068" y="1098158"/>
                    <a:pt x="17721" y="1086811"/>
                  </a:cubicBezTo>
                  <a:cubicBezTo>
                    <a:pt x="6375" y="1075464"/>
                    <a:pt x="0" y="1060075"/>
                    <a:pt x="0" y="1044028"/>
                  </a:cubicBezTo>
                  <a:lnTo>
                    <a:pt x="0" y="60505"/>
                  </a:lnTo>
                  <a:cubicBezTo>
                    <a:pt x="0" y="44458"/>
                    <a:pt x="6375" y="29068"/>
                    <a:pt x="17721" y="17721"/>
                  </a:cubicBezTo>
                  <a:cubicBezTo>
                    <a:pt x="29068" y="6375"/>
                    <a:pt x="44458" y="0"/>
                    <a:pt x="60505" y="0"/>
                  </a:cubicBezTo>
                  <a:close/>
                </a:path>
              </a:pathLst>
            </a:custGeom>
            <a:solidFill>
              <a:srgbClr val="FAFA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-57150"/>
              <a:ext cx="808807" cy="1161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7" id="127"/>
          <p:cNvSpPr/>
          <p:nvPr/>
        </p:nvSpPr>
        <p:spPr>
          <a:xfrm>
            <a:off x="1615225" y="5294313"/>
            <a:ext cx="0" cy="753800"/>
          </a:xfrm>
          <a:prstGeom prst="line">
            <a:avLst/>
          </a:prstGeom>
          <a:ln cap="flat" w="28575">
            <a:solidFill>
              <a:srgbClr val="E6E2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8" id="128"/>
          <p:cNvGrpSpPr/>
          <p:nvPr/>
        </p:nvGrpSpPr>
        <p:grpSpPr>
          <a:xfrm rot="0">
            <a:off x="641316" y="5294313"/>
            <a:ext cx="774767" cy="774767"/>
            <a:chOff x="0" y="0"/>
            <a:chExt cx="812800" cy="8128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0" id="13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31" id="131"/>
          <p:cNvSpPr/>
          <p:nvPr/>
        </p:nvSpPr>
        <p:spPr>
          <a:xfrm>
            <a:off x="4088462" y="5233989"/>
            <a:ext cx="7095020" cy="60324"/>
          </a:xfrm>
          <a:prstGeom prst="line">
            <a:avLst/>
          </a:prstGeom>
          <a:ln cap="flat" w="4762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132" id="132"/>
          <p:cNvSpPr/>
          <p:nvPr/>
        </p:nvSpPr>
        <p:spPr>
          <a:xfrm flipV="true">
            <a:off x="11183483" y="5294313"/>
            <a:ext cx="6921846" cy="0"/>
          </a:xfrm>
          <a:prstGeom prst="line">
            <a:avLst/>
          </a:prstGeom>
          <a:ln cap="flat" w="4762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Freeform 133" id="133"/>
          <p:cNvSpPr/>
          <p:nvPr/>
        </p:nvSpPr>
        <p:spPr>
          <a:xfrm flipH="false" flipV="false" rot="0">
            <a:off x="744656" y="5382702"/>
            <a:ext cx="568088" cy="597988"/>
          </a:xfrm>
          <a:custGeom>
            <a:avLst/>
            <a:gdLst/>
            <a:ahLst/>
            <a:cxnLst/>
            <a:rect r="r" b="b" t="t" l="l"/>
            <a:pathLst>
              <a:path h="597988" w="568088">
                <a:moveTo>
                  <a:pt x="0" y="0"/>
                </a:moveTo>
                <a:lnTo>
                  <a:pt x="568088" y="0"/>
                </a:lnTo>
                <a:lnTo>
                  <a:pt x="568088" y="597988"/>
                </a:lnTo>
                <a:lnTo>
                  <a:pt x="0" y="597988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4" id="134"/>
          <p:cNvSpPr txBox="true"/>
          <p:nvPr/>
        </p:nvSpPr>
        <p:spPr>
          <a:xfrm rot="0">
            <a:off x="2262980" y="3705827"/>
            <a:ext cx="8509684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Current AI deployments </a:t>
            </a:r>
            <a:r>
              <a:rPr lang="en-US" sz="1599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lack real-time telemetry </a:t>
            </a:r>
            <a:r>
              <a:rPr lang="en-US" sz="15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across inference planes. Waiting for </a:t>
            </a:r>
            <a:r>
              <a:rPr lang="en-US" sz="15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user feedback to identify confidently wr</a:t>
            </a:r>
            <a:r>
              <a:rPr lang="en-US" sz="15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ong, expensive, or unsafe outputs is a critical operational failure.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7960202" y="5719829"/>
            <a:ext cx="398502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Parallel Execution &amp; Mitigation Flowchart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300910" y="487753"/>
            <a:ext cx="221619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ControlPlane.ai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2521156" y="1176622"/>
            <a:ext cx="6622844" cy="15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0"/>
              </a:lnSpc>
            </a:pPr>
            <a:r>
              <a:rPr lang="en-US" b="true" sz="6586">
                <a:gradFill>
                  <a:gsLst>
                    <a:gs pos="0">
                      <a:srgbClr val="6521F1">
                        <a:alpha val="100000"/>
                      </a:srgbClr>
                    </a:gs>
                    <a:gs pos="50000">
                      <a:srgbClr val="C437CF">
                        <a:alpha val="100000"/>
                      </a:srgbClr>
                    </a:gs>
                    <a:gs pos="100000">
                      <a:srgbClr val="FA5F69">
                        <a:alpha val="100000"/>
                      </a:srgbClr>
                    </a:gs>
                  </a:gsLst>
                  <a:lin ang="2700000"/>
                </a:gradFill>
                <a:latin typeface="Arial Bold"/>
                <a:ea typeface="Arial Bold"/>
                <a:cs typeface="Arial Bold"/>
                <a:sym typeface="Arial Bold"/>
              </a:rPr>
              <a:t>ControlPlane.ai:</a:t>
            </a:r>
          </a:p>
          <a:p>
            <a:pPr algn="l">
              <a:lnSpc>
                <a:spcPts val="1493"/>
              </a:lnSpc>
            </a:pPr>
            <a:r>
              <a:rPr lang="en-US" b="true" sz="2986">
                <a:gradFill>
                  <a:gsLst>
                    <a:gs pos="0">
                      <a:srgbClr val="6521F1">
                        <a:alpha val="100000"/>
                      </a:srgbClr>
                    </a:gs>
                    <a:gs pos="50000">
                      <a:srgbClr val="C437CF">
                        <a:alpha val="100000"/>
                      </a:srgbClr>
                    </a:gs>
                    <a:gs pos="100000">
                      <a:srgbClr val="FA5F69">
                        <a:alpha val="100000"/>
                      </a:srgbClr>
                    </a:gs>
                  </a:gsLst>
                  <a:lin ang="2700000"/>
                </a:gradFill>
                <a:latin typeface="Arial Bold"/>
                <a:ea typeface="Arial Bold"/>
                <a:cs typeface="Arial Bold"/>
                <a:sym typeface="Arial Bold"/>
              </a:rPr>
              <a:t>Sidecar Orchestration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803038" y="2940222"/>
            <a:ext cx="7278462" cy="4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742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The Problem: After the Fact Discovery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2768533" y="1318012"/>
            <a:ext cx="434674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Architecture &amp; Network Interception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662248" y="6355782"/>
            <a:ext cx="2715689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Built on </a:t>
            </a:r>
            <a:r>
              <a:rPr lang="en-US" b="true" sz="1799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Python and Starlette</a:t>
            </a:r>
            <a:r>
              <a:rPr lang="en-US" sz="17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7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a non-blocking sidecar proxy instantly forwards LLM </a:t>
            </a:r>
            <a:r>
              <a:rPr lang="en-US" sz="17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streams while parallel micr</a:t>
            </a:r>
            <a:r>
              <a:rPr lang="en-US" sz="17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o-agents evaluate risks asynchronously via a Redis event bus. 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3688658" y="7206506"/>
            <a:ext cx="1085263" cy="66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Redis Streams Bus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777555" y="5245167"/>
            <a:ext cx="1439707" cy="83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Technical Approach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038" y="1019175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853746" y="5029518"/>
            <a:ext cx="8529366" cy="8644621"/>
          </a:xfrm>
          <a:custGeom>
            <a:avLst/>
            <a:gdLst/>
            <a:ahLst/>
            <a:cxnLst/>
            <a:rect r="r" b="b" t="t" l="l"/>
            <a:pathLst>
              <a:path h="8644621" w="8529366">
                <a:moveTo>
                  <a:pt x="0" y="0"/>
                </a:moveTo>
                <a:lnTo>
                  <a:pt x="8529366" y="0"/>
                </a:lnTo>
                <a:lnTo>
                  <a:pt x="8529366" y="8644621"/>
                </a:lnTo>
                <a:lnTo>
                  <a:pt x="0" y="86446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-168" t="0" r="-168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803038" y="9747394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6951514" y="9569305"/>
            <a:ext cx="186550" cy="933252"/>
          </a:xfrm>
          <a:custGeom>
            <a:avLst/>
            <a:gdLst/>
            <a:ahLst/>
            <a:cxnLst/>
            <a:rect r="r" b="b" t="t" l="l"/>
            <a:pathLst>
              <a:path h="933252" w="186550">
                <a:moveTo>
                  <a:pt x="0" y="0"/>
                </a:moveTo>
                <a:lnTo>
                  <a:pt x="186550" y="0"/>
                </a:lnTo>
                <a:lnTo>
                  <a:pt x="186550" y="933252"/>
                </a:lnTo>
                <a:lnTo>
                  <a:pt x="0" y="9332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6966" b="-2780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3038" y="506774"/>
            <a:ext cx="342324" cy="342324"/>
          </a:xfrm>
          <a:custGeom>
            <a:avLst/>
            <a:gdLst/>
            <a:ahLst/>
            <a:cxnLst/>
            <a:rect r="r" b="b" t="t" l="l"/>
            <a:pathLst>
              <a:path h="342324" w="342324">
                <a:moveTo>
                  <a:pt x="0" y="0"/>
                </a:moveTo>
                <a:lnTo>
                  <a:pt x="342324" y="0"/>
                </a:lnTo>
                <a:lnTo>
                  <a:pt x="342324" y="342324"/>
                </a:lnTo>
                <a:lnTo>
                  <a:pt x="0" y="342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7115282" y="545603"/>
            <a:ext cx="288036" cy="303495"/>
            <a:chOff x="0" y="0"/>
            <a:chExt cx="384048" cy="404660"/>
          </a:xfrm>
        </p:grpSpPr>
        <p:sp>
          <p:nvSpPr>
            <p:cNvPr name="Freeform 8" id="8" descr="A picture containing drawing, clock  Description automatically generated"/>
            <p:cNvSpPr/>
            <p:nvPr/>
          </p:nvSpPr>
          <p:spPr>
            <a:xfrm flipH="false" flipV="false" rot="0">
              <a:off x="0" y="0"/>
              <a:ext cx="384048" cy="404622"/>
            </a:xfrm>
            <a:custGeom>
              <a:avLst/>
              <a:gdLst/>
              <a:ahLst/>
              <a:cxnLst/>
              <a:rect r="r" b="b" t="t" l="l"/>
              <a:pathLst>
                <a:path h="404622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404622"/>
                  </a:lnTo>
                  <a:lnTo>
                    <a:pt x="0" y="404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5" t="0" r="-171" b="-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47298" y="1439117"/>
            <a:ext cx="3332100" cy="3319918"/>
            <a:chOff x="0" y="0"/>
            <a:chExt cx="4442800" cy="442655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442800" cy="4426557"/>
              <a:chOff x="0" y="0"/>
              <a:chExt cx="1254211" cy="124962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211" cy="1249626"/>
              </a:xfrm>
              <a:custGeom>
                <a:avLst/>
                <a:gdLst/>
                <a:ahLst/>
                <a:cxnLst/>
                <a:rect r="r" b="b" t="t" l="l"/>
                <a:pathLst>
                  <a:path h="1249626" w="1254211">
                    <a:moveTo>
                      <a:pt x="118495" y="0"/>
                    </a:moveTo>
                    <a:lnTo>
                      <a:pt x="1135716" y="0"/>
                    </a:lnTo>
                    <a:cubicBezTo>
                      <a:pt x="1201159" y="0"/>
                      <a:pt x="1254211" y="53052"/>
                      <a:pt x="1254211" y="118495"/>
                    </a:cubicBezTo>
                    <a:lnTo>
                      <a:pt x="1254211" y="1131131"/>
                    </a:lnTo>
                    <a:cubicBezTo>
                      <a:pt x="1254211" y="1196574"/>
                      <a:pt x="1201159" y="1249626"/>
                      <a:pt x="1135716" y="1249626"/>
                    </a:cubicBezTo>
                    <a:lnTo>
                      <a:pt x="118495" y="1249626"/>
                    </a:lnTo>
                    <a:cubicBezTo>
                      <a:pt x="53052" y="1249626"/>
                      <a:pt x="0" y="1196574"/>
                      <a:pt x="0" y="1131131"/>
                    </a:cubicBezTo>
                    <a:lnTo>
                      <a:pt x="0" y="118495"/>
                    </a:lnTo>
                    <a:cubicBezTo>
                      <a:pt x="0" y="53052"/>
                      <a:pt x="53052" y="0"/>
                      <a:pt x="118495" y="0"/>
                    </a:cubicBezTo>
                    <a:close/>
                  </a:path>
                </a:pathLst>
              </a:custGeom>
              <a:solidFill>
                <a:srgbClr val="F7F0FD"/>
              </a:solidFill>
              <a:ln w="19050" cap="rnd">
                <a:solidFill>
                  <a:srgbClr val="E6BFFF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66675"/>
                <a:ext cx="1254211" cy="11829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07797" y="1544540"/>
              <a:ext cx="3831924" cy="862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7"/>
                </a:lnSpc>
              </a:pPr>
              <a:r>
                <a:rPr lang="en-US" sz="1399" spc="-81">
                  <a:solidFill>
                    <a:srgbClr val="0E0637"/>
                  </a:solidFill>
                  <a:latin typeface="Arial"/>
                  <a:ea typeface="Arial"/>
                  <a:cs typeface="Arial"/>
                  <a:sym typeface="Arial"/>
                </a:rPr>
                <a:t>Projected Global enterprise AI market by the end of 2026, while the Global footprint to </a:t>
              </a:r>
              <a:r>
                <a:rPr lang="en-US" sz="1399" spc="-81" b="true">
                  <a:solidFill>
                    <a:srgbClr val="0E06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$539.5B.</a:t>
              </a:r>
              <a:r>
                <a:rPr lang="en-US" sz="1399" spc="-81">
                  <a:solidFill>
                    <a:srgbClr val="0E063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94677" y="449883"/>
              <a:ext cx="3499985" cy="1086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757"/>
                </a:lnSpc>
                <a:spcBef>
                  <a:spcPct val="0"/>
                </a:spcBef>
              </a:pPr>
              <a:r>
                <a:rPr lang="en-US" b="true" sz="5815" spc="-226">
                  <a:solidFill>
                    <a:srgbClr val="0E06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$42.2B</a:t>
              </a:r>
            </a:p>
          </p:txBody>
        </p:sp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0">
              <a:off x="-5254" y="2218961"/>
              <a:ext cx="4572828" cy="1235705"/>
            </a:xfrm>
            <a:prstGeom prst="rect">
              <a:avLst/>
            </a:prstGeom>
          </p:spPr>
        </p:pic>
        <p:sp>
          <p:nvSpPr>
            <p:cNvPr name="TextBox 16" id="16"/>
            <p:cNvSpPr txBox="true"/>
            <p:nvPr/>
          </p:nvSpPr>
          <p:spPr>
            <a:xfrm rot="0">
              <a:off x="375815" y="3146539"/>
              <a:ext cx="3810690" cy="1041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3"/>
                </a:lnSpc>
              </a:pPr>
              <a:r>
                <a:rPr lang="en-US" sz="1699" spc="-98">
                  <a:solidFill>
                    <a:srgbClr val="0E0637"/>
                  </a:solidFill>
                  <a:latin typeface="Arial"/>
                  <a:ea typeface="Arial"/>
                  <a:cs typeface="Arial"/>
                  <a:sym typeface="Arial"/>
                </a:rPr>
                <a:t>Estimated </a:t>
              </a:r>
              <a:r>
                <a:rPr lang="en-US" sz="1699" spc="-98" b="true">
                  <a:solidFill>
                    <a:srgbClr val="0E06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15% ($6.3B) </a:t>
              </a:r>
              <a:r>
                <a:rPr lang="en-US" sz="1699" spc="-98">
                  <a:solidFill>
                    <a:srgbClr val="0E0637"/>
                  </a:solidFill>
                  <a:latin typeface="Arial"/>
                  <a:ea typeface="Arial"/>
                  <a:cs typeface="Arial"/>
                  <a:sym typeface="Arial"/>
                </a:rPr>
                <a:t>allocated to security, compliance, and observability.</a:t>
              </a: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490996" y="2163472"/>
          <a:ext cx="12933540" cy="5191125"/>
        </p:xfrm>
        <a:graphic>
          <a:graphicData uri="http://schemas.openxmlformats.org/drawingml/2006/table">
            <a:tbl>
              <a:tblPr/>
              <a:tblGrid>
                <a:gridCol w="3233385"/>
                <a:gridCol w="3233385"/>
                <a:gridCol w="3233385"/>
                <a:gridCol w="3233385"/>
              </a:tblGrid>
              <a:tr h="1038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Legacy Reactive Logging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In-Line Blocking Proxies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ControlPlane.ai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</a:tr>
              <a:tr h="1038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User Latency Impact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Zero (Post-generation)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(Blocks generation)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Zero (&lt;50ms TTFT)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038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Evaluation Timing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"After the Fact"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Synchronous / Bottlenecked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Asynchronous / Parallel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038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Mitigation Protocol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Reporting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(Block/Allow)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Pass, Auto-Edit, Block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038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Cost Telemetry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Delayed billing sync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Heuristic estimations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Real-time token burn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14071218" y="5143500"/>
            <a:ext cx="3284259" cy="4253616"/>
            <a:chOff x="0" y="0"/>
            <a:chExt cx="4379012" cy="567148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379012" cy="5671487"/>
              <a:chOff x="0" y="0"/>
              <a:chExt cx="1510737" cy="195663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510737" cy="1956634"/>
              </a:xfrm>
              <a:custGeom>
                <a:avLst/>
                <a:gdLst/>
                <a:ahLst/>
                <a:cxnLst/>
                <a:rect r="r" b="b" t="t" l="l"/>
                <a:pathLst>
                  <a:path h="1956634" w="1510737">
                    <a:moveTo>
                      <a:pt x="98375" y="0"/>
                    </a:moveTo>
                    <a:lnTo>
                      <a:pt x="1412362" y="0"/>
                    </a:lnTo>
                    <a:cubicBezTo>
                      <a:pt x="1438453" y="0"/>
                      <a:pt x="1463475" y="10364"/>
                      <a:pt x="1481923" y="28813"/>
                    </a:cubicBezTo>
                    <a:cubicBezTo>
                      <a:pt x="1500372" y="47262"/>
                      <a:pt x="1510737" y="72284"/>
                      <a:pt x="1510737" y="98375"/>
                    </a:cubicBezTo>
                    <a:lnTo>
                      <a:pt x="1510737" y="1858259"/>
                    </a:lnTo>
                    <a:cubicBezTo>
                      <a:pt x="1510737" y="1884350"/>
                      <a:pt x="1500372" y="1909372"/>
                      <a:pt x="1481923" y="1927821"/>
                    </a:cubicBezTo>
                    <a:cubicBezTo>
                      <a:pt x="1463475" y="1946269"/>
                      <a:pt x="1438453" y="1956634"/>
                      <a:pt x="1412362" y="1956634"/>
                    </a:cubicBezTo>
                    <a:lnTo>
                      <a:pt x="98375" y="1956634"/>
                    </a:lnTo>
                    <a:cubicBezTo>
                      <a:pt x="72284" y="1956634"/>
                      <a:pt x="47262" y="1946269"/>
                      <a:pt x="28813" y="1927821"/>
                    </a:cubicBezTo>
                    <a:cubicBezTo>
                      <a:pt x="10364" y="1909372"/>
                      <a:pt x="0" y="1884350"/>
                      <a:pt x="0" y="1858259"/>
                    </a:cubicBezTo>
                    <a:lnTo>
                      <a:pt x="0" y="98375"/>
                    </a:lnTo>
                    <a:cubicBezTo>
                      <a:pt x="0" y="72284"/>
                      <a:pt x="10364" y="47262"/>
                      <a:pt x="28813" y="28813"/>
                    </a:cubicBezTo>
                    <a:cubicBezTo>
                      <a:pt x="47262" y="10364"/>
                      <a:pt x="72284" y="0"/>
                      <a:pt x="98375" y="0"/>
                    </a:cubicBezTo>
                    <a:close/>
                  </a:path>
                </a:pathLst>
              </a:custGeom>
              <a:solidFill>
                <a:srgbClr val="A453D8"/>
              </a:solidFill>
              <a:ln w="19050" cap="rnd">
                <a:solidFill>
                  <a:srgbClr val="E6BFFF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85725"/>
                <a:ext cx="1510737" cy="18709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35245" y="1867552"/>
              <a:ext cx="3461683" cy="899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6"/>
                </a:lnSpc>
              </a:pPr>
              <a:r>
                <a:rPr lang="en-US" sz="1472" spc="-85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SAM for LLM - specific telemetry and guardrail globally.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35245" y="3465918"/>
              <a:ext cx="3413631" cy="473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7"/>
                </a:lnSpc>
              </a:pPr>
              <a:r>
                <a:rPr lang="en-US" sz="1202" spc="-6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Growing at 45% CAGR as Gen AI moves from sandbox to Production.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35245" y="449804"/>
              <a:ext cx="3462190" cy="1417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789"/>
                </a:lnSpc>
                <a:spcBef>
                  <a:spcPct val="0"/>
                </a:spcBef>
              </a:pPr>
              <a:r>
                <a:rPr lang="en-US" b="true" sz="7868" spc="-306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$3.5B</a:t>
              </a:r>
            </a:p>
          </p:txBody>
        </p:sp>
        <p:pic>
          <p:nvPicPr>
            <p:cNvPr name="Picture 25" id="25"/>
            <p:cNvPicPr>
              <a:picLocks noChangeAspect="true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0">
              <a:off x="25751" y="2504958"/>
              <a:ext cx="4389347" cy="1385362"/>
            </a:xfrm>
            <a:prstGeom prst="rect">
              <a:avLst/>
            </a:prstGeom>
          </p:spPr>
        </p:pic>
      </p:grpSp>
      <p:sp>
        <p:nvSpPr>
          <p:cNvPr name="AutoShape 26" id="26"/>
          <p:cNvSpPr/>
          <p:nvPr/>
        </p:nvSpPr>
        <p:spPr>
          <a:xfrm flipH="true">
            <a:off x="1688042" y="7716547"/>
            <a:ext cx="0" cy="883248"/>
          </a:xfrm>
          <a:prstGeom prst="line">
            <a:avLst/>
          </a:prstGeom>
          <a:ln cap="flat" w="28575">
            <a:solidFill>
              <a:srgbClr val="E6E2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490996" y="7799508"/>
            <a:ext cx="774767" cy="774767"/>
            <a:chOff x="0" y="0"/>
            <a:chExt cx="1033023" cy="1033023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33023" cy="1033023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521F1">
                      <a:alpha val="100000"/>
                    </a:srgbClr>
                  </a:gs>
                  <a:gs pos="50000">
                    <a:srgbClr val="C437CF">
                      <a:alpha val="100000"/>
                    </a:srgbClr>
                  </a:gs>
                  <a:gs pos="100000">
                    <a:srgbClr val="FA5F69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113921" y="81279"/>
              <a:ext cx="805181" cy="870466"/>
            </a:xfrm>
            <a:custGeom>
              <a:avLst/>
              <a:gdLst/>
              <a:ahLst/>
              <a:cxnLst/>
              <a:rect r="r" b="b" t="t" l="l"/>
              <a:pathLst>
                <a:path h="870466" w="805181">
                  <a:moveTo>
                    <a:pt x="0" y="0"/>
                  </a:moveTo>
                  <a:lnTo>
                    <a:pt x="805181" y="0"/>
                  </a:lnTo>
                  <a:lnTo>
                    <a:pt x="805181" y="870465"/>
                  </a:lnTo>
                  <a:lnTo>
                    <a:pt x="0" y="870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550831" y="8634533"/>
            <a:ext cx="774767" cy="774767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>
            <a:off x="12328628" y="8574275"/>
            <a:ext cx="0" cy="883248"/>
          </a:xfrm>
          <a:prstGeom prst="line">
            <a:avLst/>
          </a:prstGeom>
          <a:ln cap="flat" w="28575">
            <a:solidFill>
              <a:srgbClr val="E6E2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2613208" y="8696910"/>
            <a:ext cx="650014" cy="650014"/>
          </a:xfrm>
          <a:custGeom>
            <a:avLst/>
            <a:gdLst/>
            <a:ahLst/>
            <a:cxnLst/>
            <a:rect r="r" b="b" t="t" l="l"/>
            <a:pathLst>
              <a:path h="650014" w="650014">
                <a:moveTo>
                  <a:pt x="0" y="0"/>
                </a:moveTo>
                <a:lnTo>
                  <a:pt x="650014" y="0"/>
                </a:lnTo>
                <a:lnTo>
                  <a:pt x="650014" y="650014"/>
                </a:lnTo>
                <a:lnTo>
                  <a:pt x="0" y="6500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03038" y="1119187"/>
            <a:ext cx="16456262" cy="68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0"/>
              </a:lnSpc>
              <a:spcBef>
                <a:spcPct val="0"/>
              </a:spcBef>
            </a:pPr>
            <a:r>
              <a:rPr lang="en-US" b="true" sz="3886">
                <a:gradFill>
                  <a:gsLst>
                    <a:gs pos="0">
                      <a:srgbClr val="6521F1">
                        <a:alpha val="100000"/>
                      </a:srgbClr>
                    </a:gs>
                    <a:gs pos="50000">
                      <a:srgbClr val="C437CF">
                        <a:alpha val="100000"/>
                      </a:srgbClr>
                    </a:gs>
                    <a:gs pos="100000">
                      <a:srgbClr val="FA5F69">
                        <a:alpha val="100000"/>
                      </a:srgbClr>
                    </a:gs>
                  </a:gsLst>
                  <a:lin ang="2700000"/>
                </a:gradFill>
                <a:latin typeface="Arial Bold"/>
                <a:ea typeface="Arial Bold"/>
                <a:cs typeface="Arial Bold"/>
                <a:sym typeface="Arial Bold"/>
              </a:rPr>
              <a:t>Competitive Matrix &amp; Commercial Opportunity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0910" y="487753"/>
            <a:ext cx="221619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ControlPlane.ai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263448" y="8294386"/>
            <a:ext cx="2899801" cy="81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802" spc="-10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conservative early capture yields a </a:t>
            </a:r>
            <a:r>
              <a:rPr lang="en-US" sz="1802" spc="-104" b="true">
                <a:solidFill>
                  <a:srgbClr val="0000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$150M-$200M</a:t>
            </a:r>
            <a:r>
              <a:rPr lang="en-US" sz="1802" spc="-10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near term revenue opportunity.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11383" y="7761408"/>
            <a:ext cx="11314215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Capturing the </a:t>
            </a:r>
            <a:r>
              <a:rPr lang="en-US" sz="1999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$3.5B SAM </a:t>
            </a:r>
            <a:r>
              <a:rPr lang="en-US" sz="19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for LLM tel</a:t>
            </a:r>
            <a:r>
              <a:rPr lang="en-US" sz="19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emetry by</a:t>
            </a:r>
            <a:r>
              <a:rPr lang="en-US" sz="19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 targeting the security and compliance budgets of </a:t>
            </a:r>
            <a:r>
              <a:rPr lang="en-US" b="true" sz="1999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Fortune 500 AI deployments</a:t>
            </a:r>
            <a:r>
              <a:rPr lang="en-US" sz="19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6616" y="8742670"/>
            <a:ext cx="11314215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Usage-based SaaS bill</a:t>
            </a:r>
            <a:r>
              <a:rPr lang="en-US" sz="19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ed per million</a:t>
            </a:r>
            <a:r>
              <a:rPr lang="en-US" sz="19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 intercepted tokens, mirroring the cost structure of upstream providers like </a:t>
            </a:r>
            <a:r>
              <a:rPr lang="en-US" b="true" sz="1999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OpenAI and Anthropic</a:t>
            </a:r>
            <a:r>
              <a:rPr lang="en-US" sz="19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53746" y="5029518"/>
            <a:ext cx="8529366" cy="8644621"/>
          </a:xfrm>
          <a:custGeom>
            <a:avLst/>
            <a:gdLst/>
            <a:ahLst/>
            <a:cxnLst/>
            <a:rect r="r" b="b" t="t" l="l"/>
            <a:pathLst>
              <a:path h="8644621" w="8529366">
                <a:moveTo>
                  <a:pt x="0" y="0"/>
                </a:moveTo>
                <a:lnTo>
                  <a:pt x="8529366" y="0"/>
                </a:lnTo>
                <a:lnTo>
                  <a:pt x="8529366" y="8644621"/>
                </a:lnTo>
                <a:lnTo>
                  <a:pt x="0" y="86446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-168" t="0" r="-16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683487" y="1326678"/>
            <a:ext cx="0" cy="7931622"/>
          </a:xfrm>
          <a:prstGeom prst="line">
            <a:avLst/>
          </a:prstGeom>
          <a:ln cap="flat" w="4762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4" id="4"/>
          <p:cNvSpPr/>
          <p:nvPr/>
        </p:nvSpPr>
        <p:spPr>
          <a:xfrm>
            <a:off x="803038" y="1019175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592958" y="3888301"/>
            <a:ext cx="181056" cy="181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235D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92958" y="6431808"/>
            <a:ext cx="181056" cy="181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41B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92418" y="1849301"/>
            <a:ext cx="3766882" cy="2220056"/>
            <a:chOff x="0" y="0"/>
            <a:chExt cx="5022509" cy="2960075"/>
          </a:xfrm>
        </p:grpSpPr>
        <p:sp>
          <p:nvSpPr>
            <p:cNvPr name="AutoShape 12" id="12"/>
            <p:cNvSpPr/>
            <p:nvPr/>
          </p:nvSpPr>
          <p:spPr>
            <a:xfrm>
              <a:off x="0" y="1401784"/>
              <a:ext cx="4454199" cy="0"/>
            </a:xfrm>
            <a:prstGeom prst="line">
              <a:avLst/>
            </a:prstGeom>
            <a:ln cap="flat" w="63500">
              <a:gradFill>
                <a:gsLst>
                  <a:gs pos="0">
                    <a:srgbClr val="6521F1">
                      <a:alpha val="100000"/>
                    </a:srgbClr>
                  </a:gs>
                  <a:gs pos="50000">
                    <a:srgbClr val="C437CF">
                      <a:alpha val="100000"/>
                    </a:srgbClr>
                  </a:gs>
                  <a:gs pos="100000">
                    <a:srgbClr val="FA5F69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1706584"/>
              <a:ext cx="4592705" cy="1253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tream proceeds uninterrupted; background checks confirm safety. &lt; 50ms TTFT overhead.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14300"/>
              <a:ext cx="1394237" cy="1049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95"/>
                </a:lnSpc>
                <a:spcBef>
                  <a:spcPct val="0"/>
                </a:spcBef>
              </a:pPr>
              <a:r>
                <a:rPr lang="en-US" b="true" sz="4639">
                  <a:gradFill>
                    <a:gsLst>
                      <a:gs pos="0">
                        <a:srgbClr val="6521F1">
                          <a:alpha val="100000"/>
                        </a:srgbClr>
                      </a:gs>
                      <a:gs pos="50000">
                        <a:srgbClr val="C437CF">
                          <a:alpha val="100000"/>
                        </a:srgbClr>
                      </a:gs>
                      <a:gs pos="100000">
                        <a:srgbClr val="FA5F69">
                          <a:alpha val="100000"/>
                        </a:srgbClr>
                      </a:gs>
                    </a:gsLst>
                    <a:lin ang="2700000"/>
                  </a:gra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831131"/>
              <a:ext cx="5022509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Pass-Through (Low Risk)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507171" y="4357114"/>
            <a:ext cx="3609099" cy="2220056"/>
            <a:chOff x="0" y="0"/>
            <a:chExt cx="4812132" cy="2960075"/>
          </a:xfrm>
        </p:grpSpPr>
        <p:sp>
          <p:nvSpPr>
            <p:cNvPr name="AutoShape 17" id="17"/>
            <p:cNvSpPr/>
            <p:nvPr/>
          </p:nvSpPr>
          <p:spPr>
            <a:xfrm flipV="true">
              <a:off x="0" y="1401784"/>
              <a:ext cx="4196353" cy="0"/>
            </a:xfrm>
            <a:prstGeom prst="line">
              <a:avLst/>
            </a:prstGeom>
            <a:ln cap="flat" w="63500">
              <a:gradFill>
                <a:gsLst>
                  <a:gs pos="0">
                    <a:srgbClr val="6521F1">
                      <a:alpha val="100000"/>
                    </a:srgbClr>
                  </a:gs>
                  <a:gs pos="50000">
                    <a:srgbClr val="C437CF">
                      <a:alpha val="100000"/>
                    </a:srgbClr>
                  </a:gs>
                  <a:gs pos="100000">
                    <a:srgbClr val="FA5F69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1706584"/>
              <a:ext cx="4812132" cy="1253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Luhn-v</a:t>
              </a: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alidated Regex/NER</a:t>
              </a: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 masks PII mid-stream before flushing the buffer.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133350"/>
              <a:ext cx="1229541" cy="1101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82"/>
                </a:lnSpc>
                <a:spcBef>
                  <a:spcPct val="0"/>
                </a:spcBef>
              </a:pPr>
              <a:r>
                <a:rPr lang="en-US" b="true" sz="4773">
                  <a:gradFill>
                    <a:gsLst>
                      <a:gs pos="0">
                        <a:srgbClr val="6521F1">
                          <a:alpha val="100000"/>
                        </a:srgbClr>
                      </a:gs>
                      <a:gs pos="50000">
                        <a:srgbClr val="C437CF">
                          <a:alpha val="100000"/>
                        </a:srgbClr>
                      </a:gs>
                      <a:gs pos="100000">
                        <a:srgbClr val="FA5F69">
                          <a:alpha val="100000"/>
                        </a:srgbClr>
                      </a:gs>
                    </a:gsLst>
                    <a:lin ang="2700000"/>
                  </a:gradFill>
                  <a:latin typeface="Poppins Semi-Bold"/>
                  <a:ea typeface="Poppins Semi-Bold"/>
                  <a:cs typeface="Poppins Semi-Bold"/>
                  <a:sym typeface="Poppins Semi-Bold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80331"/>
              <a:ext cx="481213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37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Auto-Edit (Medium Risk)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507171" y="6817448"/>
            <a:ext cx="3896147" cy="2534381"/>
            <a:chOff x="0" y="0"/>
            <a:chExt cx="5194862" cy="3379175"/>
          </a:xfrm>
        </p:grpSpPr>
        <p:sp>
          <p:nvSpPr>
            <p:cNvPr name="AutoShape 22" id="22"/>
            <p:cNvSpPr/>
            <p:nvPr/>
          </p:nvSpPr>
          <p:spPr>
            <a:xfrm>
              <a:off x="0" y="1401784"/>
              <a:ext cx="4693489" cy="0"/>
            </a:xfrm>
            <a:prstGeom prst="line">
              <a:avLst/>
            </a:prstGeom>
            <a:ln cap="flat" w="63500">
              <a:gradFill>
                <a:gsLst>
                  <a:gs pos="0">
                    <a:srgbClr val="6521F1">
                      <a:alpha val="100000"/>
                    </a:srgbClr>
                  </a:gs>
                  <a:gs pos="50000">
                    <a:srgbClr val="C437CF">
                      <a:alpha val="100000"/>
                    </a:srgbClr>
                  </a:gs>
                  <a:gs pos="100000">
                    <a:srgbClr val="FA5F69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1706584"/>
              <a:ext cx="5194862" cy="1672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Prox</a:t>
              </a: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y for</a:t>
              </a: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cefully tears down the TCP/WebSocket connection mid-stream and fires a webhook to the live HITL Dashboard.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-133350"/>
              <a:ext cx="1229541" cy="1101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82"/>
                </a:lnSpc>
                <a:spcBef>
                  <a:spcPct val="0"/>
                </a:spcBef>
              </a:pPr>
              <a:r>
                <a:rPr lang="en-US" b="true" sz="4773">
                  <a:gradFill>
                    <a:gsLst>
                      <a:gs pos="0">
                        <a:srgbClr val="6521F1">
                          <a:alpha val="100000"/>
                        </a:srgbClr>
                      </a:gs>
                      <a:gs pos="50000">
                        <a:srgbClr val="C437CF">
                          <a:alpha val="100000"/>
                        </a:srgbClr>
                      </a:gs>
                      <a:gs pos="100000">
                        <a:srgbClr val="FA5F69">
                          <a:alpha val="100000"/>
                        </a:srgbClr>
                      </a:gs>
                    </a:gsLst>
                    <a:lin ang="2700000"/>
                  </a:gradFill>
                  <a:latin typeface="Poppins Semi-Bold"/>
                  <a:ea typeface="Poppins Semi-Bold"/>
                  <a:cs typeface="Poppins Semi-Bold"/>
                  <a:sym typeface="Poppins Semi-Bold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780331"/>
              <a:ext cx="519486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37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Block &amp; Escalate (High Risk)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803038" y="9747394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-5400000">
            <a:off x="16951514" y="9569305"/>
            <a:ext cx="186550" cy="933252"/>
          </a:xfrm>
          <a:custGeom>
            <a:avLst/>
            <a:gdLst/>
            <a:ahLst/>
            <a:cxnLst/>
            <a:rect r="r" b="b" t="t" l="l"/>
            <a:pathLst>
              <a:path h="933252" w="186550">
                <a:moveTo>
                  <a:pt x="0" y="0"/>
                </a:moveTo>
                <a:lnTo>
                  <a:pt x="186550" y="0"/>
                </a:lnTo>
                <a:lnTo>
                  <a:pt x="186550" y="933252"/>
                </a:lnTo>
                <a:lnTo>
                  <a:pt x="0" y="9332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6966" b="-27809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03038" y="506774"/>
            <a:ext cx="342324" cy="342324"/>
          </a:xfrm>
          <a:custGeom>
            <a:avLst/>
            <a:gdLst/>
            <a:ahLst/>
            <a:cxnLst/>
            <a:rect r="r" b="b" t="t" l="l"/>
            <a:pathLst>
              <a:path h="342324" w="342324">
                <a:moveTo>
                  <a:pt x="0" y="0"/>
                </a:moveTo>
                <a:lnTo>
                  <a:pt x="342324" y="0"/>
                </a:lnTo>
                <a:lnTo>
                  <a:pt x="342324" y="342324"/>
                </a:lnTo>
                <a:lnTo>
                  <a:pt x="0" y="342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2197586" y="1711554"/>
            <a:ext cx="971801" cy="971801"/>
          </a:xfrm>
          <a:custGeom>
            <a:avLst/>
            <a:gdLst/>
            <a:ahLst/>
            <a:cxnLst/>
            <a:rect r="r" b="b" t="t" l="l"/>
            <a:pathLst>
              <a:path h="971801" w="971801">
                <a:moveTo>
                  <a:pt x="0" y="0"/>
                </a:moveTo>
                <a:lnTo>
                  <a:pt x="971801" y="0"/>
                </a:lnTo>
                <a:lnTo>
                  <a:pt x="971801" y="971801"/>
                </a:lnTo>
                <a:lnTo>
                  <a:pt x="0" y="9718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7115282" y="545603"/>
            <a:ext cx="288036" cy="303495"/>
            <a:chOff x="0" y="0"/>
            <a:chExt cx="384048" cy="404660"/>
          </a:xfrm>
        </p:grpSpPr>
        <p:sp>
          <p:nvSpPr>
            <p:cNvPr name="Freeform 31" id="31" descr="A picture containing drawing, clock  Description automatically generated"/>
            <p:cNvSpPr/>
            <p:nvPr/>
          </p:nvSpPr>
          <p:spPr>
            <a:xfrm flipH="false" flipV="false" rot="0">
              <a:off x="0" y="0"/>
              <a:ext cx="384048" cy="404622"/>
            </a:xfrm>
            <a:custGeom>
              <a:avLst/>
              <a:gdLst/>
              <a:ahLst/>
              <a:cxnLst/>
              <a:rect r="r" b="b" t="t" l="l"/>
              <a:pathLst>
                <a:path h="404622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404622"/>
                  </a:lnTo>
                  <a:lnTo>
                    <a:pt x="0" y="404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5" t="0" r="-171" b="-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282313" y="4250332"/>
            <a:ext cx="971801" cy="97180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C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2197586" y="4250332"/>
            <a:ext cx="971801" cy="971801"/>
          </a:xfrm>
          <a:custGeom>
            <a:avLst/>
            <a:gdLst/>
            <a:ahLst/>
            <a:cxnLst/>
            <a:rect r="r" b="b" t="t" l="l"/>
            <a:pathLst>
              <a:path h="971801" w="971801">
                <a:moveTo>
                  <a:pt x="0" y="0"/>
                </a:moveTo>
                <a:lnTo>
                  <a:pt x="971801" y="0"/>
                </a:lnTo>
                <a:lnTo>
                  <a:pt x="971801" y="971801"/>
                </a:lnTo>
                <a:lnTo>
                  <a:pt x="0" y="9718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2197586" y="6815483"/>
            <a:ext cx="971801" cy="971801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044D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2282313" y="6900210"/>
            <a:ext cx="802347" cy="802347"/>
          </a:xfrm>
          <a:custGeom>
            <a:avLst/>
            <a:gdLst/>
            <a:ahLst/>
            <a:cxnLst/>
            <a:rect r="r" b="b" t="t" l="l"/>
            <a:pathLst>
              <a:path h="802347" w="802347">
                <a:moveTo>
                  <a:pt x="0" y="0"/>
                </a:moveTo>
                <a:lnTo>
                  <a:pt x="802347" y="0"/>
                </a:lnTo>
                <a:lnTo>
                  <a:pt x="802347" y="802347"/>
                </a:lnTo>
                <a:lnTo>
                  <a:pt x="0" y="8023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803038" y="2000618"/>
            <a:ext cx="10631608" cy="2068739"/>
            <a:chOff x="0" y="0"/>
            <a:chExt cx="14175477" cy="2758319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14175477" cy="2669928"/>
              <a:chOff x="0" y="0"/>
              <a:chExt cx="2800094" cy="527393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800094" cy="527393"/>
              </a:xfrm>
              <a:custGeom>
                <a:avLst/>
                <a:gdLst/>
                <a:ahLst/>
                <a:cxnLst/>
                <a:rect r="r" b="b" t="t" l="l"/>
                <a:pathLst>
                  <a:path h="527393" w="2800094">
                    <a:moveTo>
                      <a:pt x="17477" y="0"/>
                    </a:moveTo>
                    <a:lnTo>
                      <a:pt x="2782617" y="0"/>
                    </a:lnTo>
                    <a:cubicBezTo>
                      <a:pt x="2792270" y="0"/>
                      <a:pt x="2800094" y="7825"/>
                      <a:pt x="2800094" y="17477"/>
                    </a:cubicBezTo>
                    <a:lnTo>
                      <a:pt x="2800094" y="509916"/>
                    </a:lnTo>
                    <a:cubicBezTo>
                      <a:pt x="2800094" y="519568"/>
                      <a:pt x="2792270" y="527393"/>
                      <a:pt x="2782617" y="527393"/>
                    </a:cubicBezTo>
                    <a:lnTo>
                      <a:pt x="17477" y="527393"/>
                    </a:lnTo>
                    <a:cubicBezTo>
                      <a:pt x="7825" y="527393"/>
                      <a:pt x="0" y="519568"/>
                      <a:pt x="0" y="509916"/>
                    </a:cubicBezTo>
                    <a:lnTo>
                      <a:pt x="0" y="17477"/>
                    </a:lnTo>
                    <a:cubicBezTo>
                      <a:pt x="0" y="7825"/>
                      <a:pt x="7825" y="0"/>
                      <a:pt x="17477" y="0"/>
                    </a:cubicBezTo>
                    <a:close/>
                  </a:path>
                </a:pathLst>
              </a:custGeom>
              <a:solidFill>
                <a:srgbClr val="FAFAF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47625"/>
                <a:ext cx="2800094" cy="5750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AutoShape 44" id="44"/>
            <p:cNvSpPr/>
            <p:nvPr/>
          </p:nvSpPr>
          <p:spPr>
            <a:xfrm>
              <a:off x="2029140" y="337121"/>
              <a:ext cx="0" cy="2001161"/>
            </a:xfrm>
            <a:prstGeom prst="line">
              <a:avLst/>
            </a:prstGeom>
            <a:ln cap="flat" w="38100">
              <a:solidFill>
                <a:srgbClr val="E6E2F5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5" id="45"/>
            <p:cNvGrpSpPr/>
            <p:nvPr/>
          </p:nvGrpSpPr>
          <p:grpSpPr>
            <a:xfrm rot="0">
              <a:off x="266842" y="1052238"/>
              <a:ext cx="1033023" cy="1033023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521F1">
                      <a:alpha val="100000"/>
                    </a:srgbClr>
                  </a:gs>
                  <a:gs pos="50000">
                    <a:srgbClr val="C437CF">
                      <a:alpha val="100000"/>
                    </a:srgbClr>
                  </a:gs>
                  <a:gs pos="100000">
                    <a:srgbClr val="FA5F69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2010090" y="247529"/>
              <a:ext cx="11755480" cy="2510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2519"/>
                </a:lnSpc>
                <a:buFont typeface="Arial"/>
                <a:buChar char="•"/>
              </a:pPr>
              <a:r>
                <a:rPr lang="en-US" b="true" sz="1799">
                  <a:solidFill>
                    <a:srgbClr val="0000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Deployment:</a:t>
              </a: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 Functional 5-service Docker Compose topology mimicking real enterprise deploym</a:t>
              </a: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ent. </a:t>
              </a:r>
            </a:p>
            <a:p>
              <a:pPr algn="l" marL="388618" indent="-194309" lvl="1">
                <a:lnSpc>
                  <a:spcPts val="25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99">
                  <a:solidFill>
                    <a:srgbClr val="0000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Core Proxy:</a:t>
              </a: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 Streaming pass-thr</a:t>
              </a: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ough and mid-stream teardown fully operational. </a:t>
              </a:r>
            </a:p>
            <a:p>
              <a:pPr algn="l" marL="388618" indent="-194309" lvl="1">
                <a:lnSpc>
                  <a:spcPts val="25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99">
                  <a:solidFill>
                    <a:srgbClr val="0000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Micro-Agents:</a:t>
              </a: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 Performance, Cost, and Responsibility agents running 8 deterministic scenarios via an offline mock provider. 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</a:p>
          </p:txBody>
        </p:sp>
        <p:sp>
          <p:nvSpPr>
            <p:cNvPr name="Freeform 49" id="49"/>
            <p:cNvSpPr/>
            <p:nvPr/>
          </p:nvSpPr>
          <p:spPr>
            <a:xfrm flipH="false" flipV="false" rot="0">
              <a:off x="456432" y="1204578"/>
              <a:ext cx="653842" cy="653842"/>
            </a:xfrm>
            <a:custGeom>
              <a:avLst/>
              <a:gdLst/>
              <a:ahLst/>
              <a:cxnLst/>
              <a:rect r="r" b="b" t="t" l="l"/>
              <a:pathLst>
                <a:path h="653842" w="653842">
                  <a:moveTo>
                    <a:pt x="0" y="0"/>
                  </a:moveTo>
                  <a:lnTo>
                    <a:pt x="653842" y="0"/>
                  </a:lnTo>
                  <a:lnTo>
                    <a:pt x="653842" y="653842"/>
                  </a:lnTo>
                  <a:lnTo>
                    <a:pt x="0" y="653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266842" y="289496"/>
              <a:ext cx="2954920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Traction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03038" y="4183870"/>
            <a:ext cx="10631608" cy="2924391"/>
            <a:chOff x="0" y="0"/>
            <a:chExt cx="14175477" cy="3899189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4175477" cy="3899189"/>
              <a:chOff x="0" y="0"/>
              <a:chExt cx="2800094" cy="77021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800094" cy="770210"/>
              </a:xfrm>
              <a:custGeom>
                <a:avLst/>
                <a:gdLst/>
                <a:ahLst/>
                <a:cxnLst/>
                <a:rect r="r" b="b" t="t" l="l"/>
                <a:pathLst>
                  <a:path h="770210" w="2800094">
                    <a:moveTo>
                      <a:pt x="17477" y="0"/>
                    </a:moveTo>
                    <a:lnTo>
                      <a:pt x="2782617" y="0"/>
                    </a:lnTo>
                    <a:cubicBezTo>
                      <a:pt x="2792270" y="0"/>
                      <a:pt x="2800094" y="7825"/>
                      <a:pt x="2800094" y="17477"/>
                    </a:cubicBezTo>
                    <a:lnTo>
                      <a:pt x="2800094" y="752733"/>
                    </a:lnTo>
                    <a:cubicBezTo>
                      <a:pt x="2800094" y="762385"/>
                      <a:pt x="2792270" y="770210"/>
                      <a:pt x="2782617" y="770210"/>
                    </a:cubicBezTo>
                    <a:lnTo>
                      <a:pt x="17477" y="770210"/>
                    </a:lnTo>
                    <a:cubicBezTo>
                      <a:pt x="7825" y="770210"/>
                      <a:pt x="0" y="762385"/>
                      <a:pt x="0" y="752733"/>
                    </a:cubicBezTo>
                    <a:lnTo>
                      <a:pt x="0" y="17477"/>
                    </a:lnTo>
                    <a:cubicBezTo>
                      <a:pt x="0" y="7825"/>
                      <a:pt x="7825" y="0"/>
                      <a:pt x="17477" y="0"/>
                    </a:cubicBezTo>
                    <a:close/>
                  </a:path>
                </a:pathLst>
              </a:custGeom>
              <a:solidFill>
                <a:srgbClr val="FAFAF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47625"/>
                <a:ext cx="2800094" cy="8178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AutoShape 55" id="55"/>
            <p:cNvSpPr/>
            <p:nvPr/>
          </p:nvSpPr>
          <p:spPr>
            <a:xfrm>
              <a:off x="2060086" y="189307"/>
              <a:ext cx="0" cy="1666783"/>
            </a:xfrm>
            <a:prstGeom prst="line">
              <a:avLst/>
            </a:prstGeom>
            <a:ln cap="flat" w="38100">
              <a:solidFill>
                <a:srgbClr val="E6E2F5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6" id="56"/>
            <p:cNvGrpSpPr/>
            <p:nvPr/>
          </p:nvGrpSpPr>
          <p:grpSpPr>
            <a:xfrm rot="0">
              <a:off x="379663" y="887096"/>
              <a:ext cx="1033023" cy="1033023"/>
              <a:chOff x="0" y="0"/>
              <a:chExt cx="812800" cy="8128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521F1">
                      <a:alpha val="100000"/>
                    </a:srgbClr>
                  </a:gs>
                  <a:gs pos="50000">
                    <a:srgbClr val="C437CF">
                      <a:alpha val="100000"/>
                    </a:srgbClr>
                  </a:gs>
                  <a:gs pos="100000">
                    <a:srgbClr val="FA5F69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2060086" y="247529"/>
              <a:ext cx="11755480" cy="415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</a:p>
          </p:txBody>
        </p:sp>
        <p:sp>
          <p:nvSpPr>
            <p:cNvPr name="Freeform 60" id="60"/>
            <p:cNvSpPr/>
            <p:nvPr/>
          </p:nvSpPr>
          <p:spPr>
            <a:xfrm flipH="false" flipV="false" rot="0">
              <a:off x="602874" y="1022699"/>
              <a:ext cx="586600" cy="761818"/>
            </a:xfrm>
            <a:custGeom>
              <a:avLst/>
              <a:gdLst/>
              <a:ahLst/>
              <a:cxnLst/>
              <a:rect r="r" b="b" t="t" l="l"/>
              <a:pathLst>
                <a:path h="761818" w="586600">
                  <a:moveTo>
                    <a:pt x="0" y="0"/>
                  </a:moveTo>
                  <a:lnTo>
                    <a:pt x="586600" y="0"/>
                  </a:lnTo>
                  <a:lnTo>
                    <a:pt x="586600" y="761817"/>
                  </a:lnTo>
                  <a:lnTo>
                    <a:pt x="0" y="761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 rot="0">
              <a:off x="228216" y="254239"/>
              <a:ext cx="2954920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true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Roadmap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88763" y="7394011"/>
            <a:ext cx="10631608" cy="2155892"/>
            <a:chOff x="0" y="0"/>
            <a:chExt cx="14175477" cy="2874523"/>
          </a:xfrm>
        </p:grpSpPr>
        <p:grpSp>
          <p:nvGrpSpPr>
            <p:cNvPr name="Group 63" id="63"/>
            <p:cNvGrpSpPr/>
            <p:nvPr/>
          </p:nvGrpSpPr>
          <p:grpSpPr>
            <a:xfrm rot="0">
              <a:off x="0" y="0"/>
              <a:ext cx="14175477" cy="2874523"/>
              <a:chOff x="0" y="0"/>
              <a:chExt cx="2800094" cy="567807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2800094" cy="567807"/>
              </a:xfrm>
              <a:custGeom>
                <a:avLst/>
                <a:gdLst/>
                <a:ahLst/>
                <a:cxnLst/>
                <a:rect r="r" b="b" t="t" l="l"/>
                <a:pathLst>
                  <a:path h="567807" w="2800094">
                    <a:moveTo>
                      <a:pt x="17477" y="0"/>
                    </a:moveTo>
                    <a:lnTo>
                      <a:pt x="2782617" y="0"/>
                    </a:lnTo>
                    <a:cubicBezTo>
                      <a:pt x="2792270" y="0"/>
                      <a:pt x="2800094" y="7825"/>
                      <a:pt x="2800094" y="17477"/>
                    </a:cubicBezTo>
                    <a:lnTo>
                      <a:pt x="2800094" y="550330"/>
                    </a:lnTo>
                    <a:cubicBezTo>
                      <a:pt x="2800094" y="559982"/>
                      <a:pt x="2792270" y="567807"/>
                      <a:pt x="2782617" y="567807"/>
                    </a:cubicBezTo>
                    <a:lnTo>
                      <a:pt x="17477" y="567807"/>
                    </a:lnTo>
                    <a:cubicBezTo>
                      <a:pt x="7825" y="567807"/>
                      <a:pt x="0" y="559982"/>
                      <a:pt x="0" y="550330"/>
                    </a:cubicBezTo>
                    <a:lnTo>
                      <a:pt x="0" y="17477"/>
                    </a:lnTo>
                    <a:cubicBezTo>
                      <a:pt x="0" y="7825"/>
                      <a:pt x="7825" y="0"/>
                      <a:pt x="17477" y="0"/>
                    </a:cubicBezTo>
                    <a:close/>
                  </a:path>
                </a:pathLst>
              </a:custGeom>
              <a:solidFill>
                <a:srgbClr val="FAFAF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47625"/>
                <a:ext cx="2800094" cy="6154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AutoShape 66" id="66"/>
            <p:cNvSpPr/>
            <p:nvPr/>
          </p:nvSpPr>
          <p:spPr>
            <a:xfrm>
              <a:off x="2000903" y="283259"/>
              <a:ext cx="0" cy="1533632"/>
            </a:xfrm>
            <a:prstGeom prst="line">
              <a:avLst/>
            </a:prstGeom>
            <a:ln cap="flat" w="38100">
              <a:solidFill>
                <a:srgbClr val="E6E2F5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67" id="67"/>
            <p:cNvGrpSpPr/>
            <p:nvPr/>
          </p:nvGrpSpPr>
          <p:grpSpPr>
            <a:xfrm rot="0">
              <a:off x="323759" y="865677"/>
              <a:ext cx="1033023" cy="1033023"/>
              <a:chOff x="0" y="0"/>
              <a:chExt cx="812800" cy="8128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521F1">
                      <a:alpha val="100000"/>
                    </a:srgbClr>
                  </a:gs>
                  <a:gs pos="50000">
                    <a:srgbClr val="C437CF">
                      <a:alpha val="100000"/>
                    </a:srgbClr>
                  </a:gs>
                  <a:gs pos="100000">
                    <a:srgbClr val="FA5F69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2000903" y="226109"/>
              <a:ext cx="11755480" cy="2510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25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99">
                  <a:solidFill>
                    <a:srgbClr val="0000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Developer-First Land &amp; Expand:</a:t>
              </a: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 Drive bottom-up adoption by targeting developers w</a:t>
              </a: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ith th</a:t>
              </a: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e zero-key mock provider demo. </a:t>
              </a:r>
            </a:p>
            <a:p>
              <a:pPr algn="l" marL="388618" indent="-194309" lvl="1">
                <a:lnSpc>
                  <a:spcPts val="25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799">
                  <a:solidFill>
                    <a:srgbClr val="0000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</a:t>
              </a:r>
              <a:r>
                <a:rPr lang="en-US" b="true" sz="1799">
                  <a:solidFill>
                    <a:srgbClr val="0000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nterprise Scaling:</a:t>
              </a: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 Transition free developer usage into top-down, multi-tenant deployments mandated by internal security and DevOps teams. 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</a:p>
          </p:txBody>
        </p:sp>
        <p:sp>
          <p:nvSpPr>
            <p:cNvPr name="Freeform 71" id="71"/>
            <p:cNvSpPr/>
            <p:nvPr/>
          </p:nvSpPr>
          <p:spPr>
            <a:xfrm flipH="false" flipV="false" rot="0">
              <a:off x="485497" y="1019002"/>
              <a:ext cx="702075" cy="673992"/>
            </a:xfrm>
            <a:custGeom>
              <a:avLst/>
              <a:gdLst/>
              <a:ahLst/>
              <a:cxnLst/>
              <a:rect r="r" b="b" t="t" l="l"/>
              <a:pathLst>
                <a:path h="673992" w="702075">
                  <a:moveTo>
                    <a:pt x="0" y="0"/>
                  </a:moveTo>
                  <a:lnTo>
                    <a:pt x="702075" y="0"/>
                  </a:lnTo>
                  <a:lnTo>
                    <a:pt x="702075" y="673992"/>
                  </a:lnTo>
                  <a:lnTo>
                    <a:pt x="0" y="673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 rot="0">
              <a:off x="306444" y="223114"/>
              <a:ext cx="714772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GTM</a:t>
              </a:r>
            </a:p>
          </p:txBody>
        </p:sp>
        <p:grpSp>
          <p:nvGrpSpPr>
            <p:cNvPr name="Group 73" id="73"/>
            <p:cNvGrpSpPr/>
            <p:nvPr/>
          </p:nvGrpSpPr>
          <p:grpSpPr>
            <a:xfrm rot="0">
              <a:off x="300882" y="2142466"/>
              <a:ext cx="4845907" cy="591453"/>
              <a:chOff x="0" y="0"/>
              <a:chExt cx="1277490" cy="15592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277490" cy="155920"/>
              </a:xfrm>
              <a:custGeom>
                <a:avLst/>
                <a:gdLst/>
                <a:ahLst/>
                <a:cxnLst/>
                <a:rect r="r" b="b" t="t" l="l"/>
                <a:pathLst>
                  <a:path h="155920" w="1277490">
                    <a:moveTo>
                      <a:pt x="0" y="0"/>
                    </a:moveTo>
                    <a:lnTo>
                      <a:pt x="1074290" y="0"/>
                    </a:lnTo>
                    <a:lnTo>
                      <a:pt x="1277490" y="77960"/>
                    </a:lnTo>
                    <a:lnTo>
                      <a:pt x="1074290" y="155920"/>
                    </a:lnTo>
                    <a:lnTo>
                      <a:pt x="0" y="155920"/>
                    </a:lnTo>
                    <a:lnTo>
                      <a:pt x="203200" y="779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D01FF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177800" y="-47625"/>
                <a:ext cx="1023490" cy="2035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  <a:r>
                  <a:rPr lang="en-US" b="true" sz="1700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Open source local proxy</a:t>
                </a: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4472821" y="2142466"/>
              <a:ext cx="3689840" cy="591453"/>
              <a:chOff x="0" y="0"/>
              <a:chExt cx="972725" cy="15592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72725" cy="155920"/>
              </a:xfrm>
              <a:custGeom>
                <a:avLst/>
                <a:gdLst/>
                <a:ahLst/>
                <a:cxnLst/>
                <a:rect r="r" b="b" t="t" l="l"/>
                <a:pathLst>
                  <a:path h="155920" w="972725">
                    <a:moveTo>
                      <a:pt x="0" y="0"/>
                    </a:moveTo>
                    <a:lnTo>
                      <a:pt x="769525" y="0"/>
                    </a:lnTo>
                    <a:lnTo>
                      <a:pt x="972725" y="77960"/>
                    </a:lnTo>
                    <a:lnTo>
                      <a:pt x="769525" y="155920"/>
                    </a:lnTo>
                    <a:lnTo>
                      <a:pt x="0" y="155920"/>
                    </a:lnTo>
                    <a:lnTo>
                      <a:pt x="203200" y="779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D01FF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177800" y="-47625"/>
                <a:ext cx="718725" cy="2035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  <a:r>
                  <a:rPr lang="en-US" b="true" sz="1700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Cloud self serve</a:t>
                </a: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7502655" y="2142466"/>
              <a:ext cx="6164822" cy="591453"/>
              <a:chOff x="0" y="0"/>
              <a:chExt cx="1625186" cy="15592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625186" cy="155920"/>
              </a:xfrm>
              <a:custGeom>
                <a:avLst/>
                <a:gdLst/>
                <a:ahLst/>
                <a:cxnLst/>
                <a:rect r="r" b="b" t="t" l="l"/>
                <a:pathLst>
                  <a:path h="155920" w="1625186">
                    <a:moveTo>
                      <a:pt x="0" y="0"/>
                    </a:moveTo>
                    <a:lnTo>
                      <a:pt x="1421986" y="0"/>
                    </a:lnTo>
                    <a:lnTo>
                      <a:pt x="1625186" y="77960"/>
                    </a:lnTo>
                    <a:lnTo>
                      <a:pt x="1421986" y="155920"/>
                    </a:lnTo>
                    <a:lnTo>
                      <a:pt x="0" y="155920"/>
                    </a:lnTo>
                    <a:lnTo>
                      <a:pt x="203200" y="779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D01FF"/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177800" y="-47625"/>
                <a:ext cx="1371186" cy="2035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  <a:r>
                  <a:rPr lang="en-US" b="true" sz="1700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Enterprise SSO/VPC deployment</a:t>
                </a:r>
              </a:p>
            </p:txBody>
          </p:sp>
        </p:grpSp>
      </p:grpSp>
      <p:sp>
        <p:nvSpPr>
          <p:cNvPr name="TextBox 82" id="82"/>
          <p:cNvSpPr txBox="true"/>
          <p:nvPr/>
        </p:nvSpPr>
        <p:spPr>
          <a:xfrm rot="0">
            <a:off x="1300910" y="487753"/>
            <a:ext cx="221619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ControlPlane.ai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803038" y="1119187"/>
            <a:ext cx="16456262" cy="68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0"/>
              </a:lnSpc>
              <a:spcBef>
                <a:spcPct val="0"/>
              </a:spcBef>
            </a:pPr>
            <a:r>
              <a:rPr lang="en-US" b="true" sz="3886">
                <a:gradFill>
                  <a:gsLst>
                    <a:gs pos="0">
                      <a:srgbClr val="6521F1">
                        <a:alpha val="100000"/>
                      </a:srgbClr>
                    </a:gs>
                    <a:gs pos="50000">
                      <a:srgbClr val="C437CF">
                        <a:alpha val="100000"/>
                      </a:srgbClr>
                    </a:gs>
                    <a:gs pos="100000">
                      <a:srgbClr val="FA5F69">
                        <a:alpha val="100000"/>
                      </a:srgbClr>
                    </a:gs>
                  </a:gsLst>
                  <a:lin ang="2700000"/>
                </a:gradFill>
                <a:latin typeface="Arial Bold"/>
                <a:ea typeface="Arial Bold"/>
                <a:cs typeface="Arial Bold"/>
                <a:sym typeface="Arial Bold"/>
              </a:rPr>
              <a:t>Mitigation, Traction &amp; Roadmap</a:t>
            </a:r>
          </a:p>
        </p:txBody>
      </p:sp>
      <p:graphicFrame>
        <p:nvGraphicFramePr>
          <p:cNvPr name="Table 84" id="84"/>
          <p:cNvGraphicFramePr>
            <a:graphicFrameLocks noGrp="true"/>
          </p:cNvGraphicFramePr>
          <p:nvPr/>
        </p:nvGraphicFramePr>
        <p:xfrm>
          <a:off x="2596329" y="4357114"/>
          <a:ext cx="8671060" cy="2587725"/>
        </p:xfrm>
        <a:graphic>
          <a:graphicData uri="http://schemas.openxmlformats.org/drawingml/2006/table">
            <a:tbl>
              <a:tblPr/>
              <a:tblGrid>
                <a:gridCol w="1348815"/>
                <a:gridCol w="1290972"/>
                <a:gridCol w="6031273"/>
              </a:tblGrid>
              <a:tr h="8600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9"/>
                        </a:lnSpc>
                        <a:defRPr/>
                      </a:pPr>
                      <a:r>
                        <a:rPr lang="en-US" b="true" sz="16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Phase 1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9"/>
                        </a:lnSpc>
                        <a:defRPr/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 1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9"/>
                        </a:lnSpc>
                        <a:defRPr/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 fine-tuned neural cross-encoders.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8676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9"/>
                        </a:lnSpc>
                        <a:defRPr/>
                      </a:pPr>
                      <a:r>
                        <a:rPr lang="en-US" b="true" sz="16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Phase 2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9"/>
                        </a:lnSpc>
                        <a:defRPr/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 2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9"/>
                        </a:lnSpc>
                        <a:defRPr/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production vector stores &amp; exact tokenizers. 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8600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9"/>
                        </a:lnSpc>
                        <a:defRPr/>
                      </a:pPr>
                      <a:r>
                        <a:rPr lang="en-US" b="true" sz="16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Phase 3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9"/>
                        </a:lnSpc>
                        <a:defRPr/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 4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9"/>
                        </a:lnSpc>
                        <a:defRPr/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Launch SSO, auth, and multi-tenancy. 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</a:tbl>
          </a:graphicData>
        </a:graphic>
      </p:graphicFrame>
      <p:sp>
        <p:nvSpPr>
          <p:cNvPr name="TextBox 85" id="85"/>
          <p:cNvSpPr txBox="true"/>
          <p:nvPr/>
        </p:nvSpPr>
        <p:spPr>
          <a:xfrm rot="0">
            <a:off x="13377939" y="1211114"/>
            <a:ext cx="226605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Risk &amp; Mitigation</a:t>
            </a:r>
          </a:p>
        </p:txBody>
      </p:sp>
      <p:sp>
        <p:nvSpPr>
          <p:cNvPr name="AutoShape 86" id="86"/>
          <p:cNvSpPr/>
          <p:nvPr/>
        </p:nvSpPr>
        <p:spPr>
          <a:xfrm flipV="true">
            <a:off x="12835326" y="1435587"/>
            <a:ext cx="418227" cy="9842"/>
          </a:xfrm>
          <a:prstGeom prst="line">
            <a:avLst/>
          </a:prstGeom>
          <a:ln cap="flat" w="4762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1A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 descr="A purple and black background  AI-generated content may be incorrect.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47865" y="9644777"/>
            <a:ext cx="3597135" cy="246831"/>
            <a:chOff x="0" y="0"/>
            <a:chExt cx="4796180" cy="3291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96184" cy="329101"/>
            </a:xfrm>
            <a:custGeom>
              <a:avLst/>
              <a:gdLst/>
              <a:ahLst/>
              <a:cxnLst/>
              <a:rect r="r" b="b" t="t" l="l"/>
              <a:pathLst>
                <a:path h="329101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557" r="0" b="-221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96180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D9D9D9"/>
                  </a:solidFill>
                  <a:latin typeface="Arial"/>
                  <a:ea typeface="Arial"/>
                  <a:cs typeface="Arial"/>
                  <a:sym typeface="Arial"/>
                </a:rPr>
                <a:t>Copyright © 2026 Accenture. All rights reserved.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528943" y="9644777"/>
            <a:ext cx="187557" cy="246831"/>
            <a:chOff x="0" y="0"/>
            <a:chExt cx="250076" cy="3291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070" cy="329101"/>
            </a:xfrm>
            <a:custGeom>
              <a:avLst/>
              <a:gdLst/>
              <a:ahLst/>
              <a:cxnLst/>
              <a:rect r="r" b="b" t="t" l="l"/>
              <a:pathLst>
                <a:path h="329101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331" t="0" r="-76333" b="251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50076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D9D9D9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2401" y="9575997"/>
            <a:ext cx="274939" cy="301752"/>
            <a:chOff x="0" y="0"/>
            <a:chExt cx="366586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649" cy="402336"/>
            </a:xfrm>
            <a:custGeom>
              <a:avLst/>
              <a:gdLst/>
              <a:ahLst/>
              <a:cxnLst/>
              <a:rect r="r" b="b" t="t" l="l"/>
              <a:pathLst>
                <a:path h="402336" w="366649">
                  <a:moveTo>
                    <a:pt x="0" y="402336"/>
                  </a:moveTo>
                  <a:lnTo>
                    <a:pt x="366649" y="253619"/>
                  </a:lnTo>
                  <a:lnTo>
                    <a:pt x="366649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982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AFAF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87023" y="5143500"/>
            <a:ext cx="7785783" cy="2481649"/>
            <a:chOff x="0" y="0"/>
            <a:chExt cx="10381044" cy="33088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81046" cy="3308866"/>
            </a:xfrm>
            <a:custGeom>
              <a:avLst/>
              <a:gdLst/>
              <a:ahLst/>
              <a:cxnLst/>
              <a:rect r="r" b="b" t="t" l="l"/>
              <a:pathLst>
                <a:path h="3308866" w="10381046">
                  <a:moveTo>
                    <a:pt x="0" y="0"/>
                  </a:moveTo>
                  <a:lnTo>
                    <a:pt x="10381046" y="0"/>
                  </a:lnTo>
                  <a:lnTo>
                    <a:pt x="10381046" y="3308866"/>
                  </a:lnTo>
                  <a:lnTo>
                    <a:pt x="0" y="33088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66" r="0" b="910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28600"/>
              <a:ext cx="10381044" cy="3080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1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Thank you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87023" y="8980805"/>
            <a:ext cx="4774279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Repo Link: </a:t>
            </a:r>
            <a:r>
              <a:rPr lang="en-US" b="true" sz="160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  <a:hlinkClick r:id="rId4" tooltip="https://github.com/SakuDaku05/ControlPlane.ai.git"/>
              </a:rPr>
              <a:t>Click Here</a:t>
            </a: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Demo/Prototype Video link: </a:t>
            </a:r>
            <a:r>
              <a:rPr lang="en-US" b="true" sz="160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  <a:hlinkClick r:id="rId5" tooltip="https://drive.google.com/file/d/1Zi2CBcmYzRfpkBvMRCzA64meYZ_tw9wJ/view?usp=sharing"/>
              </a:rPr>
              <a:t>Click Here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87023" y="9536690"/>
            <a:ext cx="9641779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Team 23je0841: </a:t>
            </a:r>
            <a:r>
              <a:rPr lang="en-US" sz="18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Engineered by Saket, Mayank, and Sahil at IIT (ISM) Dhanbad.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DAHTwNIfaxc</dc:identifier>
  <dcterms:modified xsi:type="dcterms:W3CDTF">2011-08-01T06:04:30Z</dcterms:modified>
  <cp:revision>1</cp:revision>
  <dc:title>23je0841_ControlPlane.ai_R2</dc:title>
</cp:coreProperties>
</file>